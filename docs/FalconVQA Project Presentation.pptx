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4.svg" ContentType="image/svg+xml"/>
  <Override PartName="/ppt/media/image6.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3" r:id="rId13"/>
    <p:sldId id="266" r:id="rId16"/>
    <p:sldId id="262" r:id="rId12"/>
    <p:sldId id="270" r:id="rId26"/>
    <p:sldId id="264" r:id="rId14"/>
    <p:sldId id="261" r:id="rId11"/>
    <p:sldId id="271" r:id="rId27"/>
    <p:sldId id="272" r:id="rId28"/>
    <p:sldId id="260" r:id="rId10"/>
    <p:sldId id="273" r:id="rId29"/>
    <p:sldId id="274" r:id="rId30"/>
    <p:sldId id="275" r:id="rId31"/>
    <p:sldId id="269" r:id="rId19"/>
  </p:sldIdLst>
  <p:sldSz cx="18288000" cy="10287000"/>
  <p:notesSz cx="6858000" cy="9144000"/>
  <p:embeddedFontLst>
    <p:embeddedFont>
      <p:font typeface="HK Grotesk" charset="1" panose="00000500000000000000"/>
      <p:regular r:id="rId20"/>
    </p:embeddedFont>
    <p:embeddedFont>
      <p:font typeface="Cy Grotesk V3 Key" charset="1" panose="00000500000000000000"/>
      <p:regular r:id="rId21"/>
    </p:embeddedFont>
    <p:embeddedFont>
      <p:font typeface="Cy Grotesk V3 Key Light" charset="1" panose="00000400000000000000"/>
      <p:regular r:id="rId22"/>
    </p:embeddedFont>
    <p:embeddedFont>
      <p:font typeface="HK Grotesk Bold" charset="1" panose="00000800000000000000"/>
      <p:regular r:id="rId23"/>
    </p:embeddedFont>
    <p:embeddedFont>
      <p:font typeface="HK Grotesk Light" charset="1" panose="00000400000000000000"/>
      <p:regular r:id="rId24"/>
    </p:embeddedFont>
    <p:embeddedFont>
      <p:font typeface="HK Grotesk Light Italics" charset="1" panose="000004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6" Type="http://schemas.openxmlformats.org/officeDocument/2006/relationships/slide" Target="slides/slide11.xml"/><Relationship Id="rId19" Type="http://schemas.openxmlformats.org/officeDocument/2006/relationships/slide" Target="slides/slide14.xml"/><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font" Target="fonts/font25.fntdata"/><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7.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11.png"/><Relationship Id="rId7" Type="http://schemas.openxmlformats.org/officeDocument/2006/relationships/image" Target="../media/image12.svg"/><Relationship Id="rId8" Type="http://schemas.openxmlformats.org/officeDocument/2006/relationships/image" Target="../media/image13.png"/><Relationship Id="rId9" Type="http://schemas.openxmlformats.org/officeDocument/2006/relationships/image" Target="../media/image1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svg"/><Relationship Id="rId6" Type="http://schemas.openxmlformats.org/officeDocument/2006/relationships/image" Target="../media/image1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svg"/><Relationship Id="rId8" Type="http://schemas.openxmlformats.org/officeDocument/2006/relationships/image" Target="../media/image7.png"/><Relationship Id="rId9" Type="http://schemas.openxmlformats.org/officeDocument/2006/relationships/image" Target="../media/image8.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sv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25000"/>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25000"/>
            </a:blip>
            <a:stretch>
              <a:fillRect l="0" t="0" r="0" b="0"/>
            </a:stretch>
          </a:blipFill>
        </p:spPr>
      </p:sp>
      <p:grpSp>
        <p:nvGrpSpPr>
          <p:cNvPr name="Group 5" id="5"/>
          <p:cNvGrpSpPr/>
          <p:nvPr/>
        </p:nvGrpSpPr>
        <p:grpSpPr>
          <a:xfrm rot="0">
            <a:off x="1028700" y="7864552"/>
            <a:ext cx="16230600" cy="149974"/>
            <a:chOff x="0" y="0"/>
            <a:chExt cx="4052983" cy="37450"/>
          </a:xfrm>
        </p:grpSpPr>
        <p:sp>
          <p:nvSpPr>
            <p:cNvPr name="Freeform 6" id="6"/>
            <p:cNvSpPr/>
            <p:nvPr/>
          </p:nvSpPr>
          <p:spPr>
            <a:xfrm flipH="false" flipV="false" rot="0">
              <a:off x="0" y="0"/>
              <a:ext cx="4052983" cy="37450"/>
            </a:xfrm>
            <a:custGeom>
              <a:avLst/>
              <a:gdLst/>
              <a:ahLst/>
              <a:cxnLst/>
              <a:rect r="r" b="b" t="t" l="l"/>
              <a:pathLst>
                <a:path h="37450" w="4052983">
                  <a:moveTo>
                    <a:pt x="0" y="0"/>
                  </a:moveTo>
                  <a:lnTo>
                    <a:pt x="4052983" y="0"/>
                  </a:lnTo>
                  <a:lnTo>
                    <a:pt x="4052983" y="37450"/>
                  </a:lnTo>
                  <a:lnTo>
                    <a:pt x="0" y="37450"/>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7" id="7"/>
            <p:cNvSpPr txBox="true"/>
            <p:nvPr/>
          </p:nvSpPr>
          <p:spPr>
            <a:xfrm>
              <a:off x="0" y="-38100"/>
              <a:ext cx="4052983" cy="7555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198790" y="4910152"/>
            <a:ext cx="12882266" cy="2054939"/>
          </a:xfrm>
          <a:prstGeom prst="rect">
            <a:avLst/>
          </a:prstGeom>
        </p:spPr>
        <p:txBody>
          <a:bodyPr anchor="t" rtlCol="false" tIns="0" lIns="0" bIns="0" rIns="0">
            <a:spAutoFit/>
          </a:bodyPr>
          <a:lstStyle/>
          <a:p>
            <a:pPr algn="l" marL="0" indent="0" lvl="0">
              <a:lnSpc>
                <a:spcPts val="14371"/>
              </a:lnSpc>
              <a:spcBef>
                <a:spcPct val="0"/>
              </a:spcBef>
            </a:pPr>
            <a:r>
              <a:rPr lang="en-US" sz="17964" spc="-1437">
                <a:solidFill>
                  <a:srgbClr val="F9F9F9"/>
                </a:solidFill>
                <a:latin typeface="Cy Grotesk V3 Key"/>
                <a:ea typeface="Cy Grotesk V3 Key"/>
                <a:cs typeface="Cy Grotesk V3 Key"/>
                <a:sym typeface="Cy Grotesk V3 Key"/>
              </a:rPr>
              <a:t>Video QA</a:t>
            </a:r>
          </a:p>
        </p:txBody>
      </p:sp>
      <p:sp>
        <p:nvSpPr>
          <p:cNvPr name="TextBox 13" id="13"/>
          <p:cNvSpPr txBox="true"/>
          <p:nvPr/>
        </p:nvSpPr>
        <p:spPr>
          <a:xfrm rot="0">
            <a:off x="1198790" y="2546581"/>
            <a:ext cx="15330465" cy="2454280"/>
          </a:xfrm>
          <a:prstGeom prst="rect">
            <a:avLst/>
          </a:prstGeom>
        </p:spPr>
        <p:txBody>
          <a:bodyPr anchor="t" rtlCol="false" tIns="0" lIns="0" bIns="0" rIns="0">
            <a:spAutoFit/>
          </a:bodyPr>
          <a:lstStyle/>
          <a:p>
            <a:pPr algn="l" marL="0" indent="0" lvl="0">
              <a:lnSpc>
                <a:spcPts val="17102"/>
              </a:lnSpc>
              <a:spcBef>
                <a:spcPct val="0"/>
              </a:spcBef>
            </a:pPr>
            <a:r>
              <a:rPr lang="en-US" sz="21378" spc="-1710">
                <a:solidFill>
                  <a:srgbClr val="F9F9F9"/>
                </a:solidFill>
                <a:latin typeface="Cy Grotesk V3 Key"/>
                <a:ea typeface="Cy Grotesk V3 Key"/>
                <a:cs typeface="Cy Grotesk V3 Key"/>
                <a:sym typeface="Cy Grotesk V3 Key"/>
              </a:rPr>
              <a:t>FalconVQA</a:t>
            </a:r>
          </a:p>
        </p:txBody>
      </p:sp>
      <p:sp>
        <p:nvSpPr>
          <p:cNvPr name="TextBox 14" id="14"/>
          <p:cNvSpPr txBox="true"/>
          <p:nvPr/>
        </p:nvSpPr>
        <p:spPr>
          <a:xfrm rot="0">
            <a:off x="1307554" y="7005915"/>
            <a:ext cx="16066822" cy="650531"/>
          </a:xfrm>
          <a:prstGeom prst="rect">
            <a:avLst/>
          </a:prstGeom>
        </p:spPr>
        <p:txBody>
          <a:bodyPr anchor="t" rtlCol="false" tIns="0" lIns="0" bIns="0" rIns="0">
            <a:spAutoFit/>
          </a:bodyPr>
          <a:lstStyle/>
          <a:p>
            <a:pPr algn="l" marL="0" indent="0" lvl="0">
              <a:lnSpc>
                <a:spcPts val="4544"/>
              </a:lnSpc>
              <a:spcBef>
                <a:spcPct val="0"/>
              </a:spcBef>
            </a:pPr>
            <a:r>
              <a:rPr lang="en-US" sz="3200" spc="1584">
                <a:solidFill>
                  <a:srgbClr val="F9F9F9"/>
                </a:solidFill>
                <a:latin typeface="Cy Grotesk V3 Key Light"/>
                <a:ea typeface="Cy Grotesk V3 Key Light"/>
                <a:cs typeface="Cy Grotesk V3 Key Light"/>
                <a:sym typeface="Cy Grotesk V3 Key Light"/>
              </a:rPr>
              <a:t>Natural Language Retrieval of Footage</a:t>
            </a:r>
          </a:p>
        </p:txBody>
      </p:sp>
      <p:sp>
        <p:nvSpPr>
          <p:cNvPr name="TextBox 16" id="16"/>
          <p:cNvSpPr txBox="true"/>
          <p:nvPr/>
        </p:nvSpPr>
        <p:spPr>
          <a:xfrm rot="0">
            <a:off x="1307554" y="8457146"/>
            <a:ext cx="4958259" cy="523875"/>
          </a:xfrm>
          <a:prstGeom prst="rect">
            <a:avLst/>
          </a:prstGeom>
        </p:spPr>
        <p:txBody>
          <a:bodyPr anchor="t" rtlCol="false" tIns="0" lIns="0" bIns="0" rIns="0">
            <a:spAutoFit/>
          </a:bodyPr>
          <a:lstStyle/>
          <a:p>
            <a:pPr algn="l">
              <a:lnSpc>
                <a:spcPts val="4200"/>
              </a:lnSpc>
              <a:spcBef>
                <a:spcPct val="0"/>
              </a:spcBef>
            </a:pPr>
            <a:r>
              <a:rPr lang="en-US" sz="2200" spc="-105">
                <a:solidFill>
                  <a:srgbClr val="FFFFFF"/>
                </a:solidFill>
                <a:latin typeface="HK Grotesk"/>
                <a:ea typeface="HK Grotesk"/>
                <a:cs typeface="HK Grotesk"/>
                <a:sym typeface="HK Grotesk"/>
              </a:rPr>
              <a:t>Avinash Anish  |  Vaivaswat Verma</a:t>
            </a:r>
          </a:p>
        </p:txBody>
      </p:sp>
      <p:sp>
        <p:nvSpPr>
          <p:cNvPr name="TextBox 17" id="17"/>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R. V. College of Engineering</a:t>
            </a:r>
          </a:p>
        </p:txBody>
      </p:sp>
      <p:sp>
        <p:nvSpPr>
          <p:cNvPr name="TextBox 18" id="18"/>
          <p:cNvSpPr txBox="true"/>
          <p:nvPr/>
        </p:nvSpPr>
        <p:spPr>
          <a:xfrm rot="0">
            <a:off x="14952317" y="1123950"/>
            <a:ext cx="2875326"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August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459442" y="4209522"/>
            <a:ext cx="7456794" cy="885770"/>
            <a:chOff x="0" y="0"/>
            <a:chExt cx="1963929" cy="233289"/>
          </a:xfrm>
        </p:grpSpPr>
        <p:sp>
          <p:nvSpPr>
            <p:cNvPr name="Freeform 7" id="7"/>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solidFill>
              <a:srgbClr val="0082B2"/>
            </a:solidFill>
            <a:ln w="9525" cap="rnd">
              <a:gradFill>
                <a:gsLst>
                  <a:gs pos="0">
                    <a:srgbClr val="FFFFFF">
                      <a:alpha val="100000"/>
                    </a:srgbClr>
                  </a:gs>
                  <a:gs pos="100000">
                    <a:srgbClr val="DBE3EB">
                      <a:alpha val="100000"/>
                    </a:srgbClr>
                  </a:gs>
                </a:gsLst>
                <a:lin ang="0"/>
              </a:gradFill>
              <a:prstDash val="solid"/>
              <a:round/>
            </a:ln>
          </p:spPr>
        </p:sp>
        <p:sp>
          <p:nvSpPr>
            <p:cNvPr name="TextBox 8" id="8"/>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9" id="9"/>
          <p:cNvGrpSpPr/>
          <p:nvPr/>
        </p:nvGrpSpPr>
        <p:grpSpPr>
          <a:xfrm rot="0">
            <a:off x="9284025" y="4209522"/>
            <a:ext cx="7456794" cy="885770"/>
            <a:chOff x="0" y="0"/>
            <a:chExt cx="1963929" cy="233289"/>
          </a:xfrm>
        </p:grpSpPr>
        <p:sp>
          <p:nvSpPr>
            <p:cNvPr name="Freeform 10" id="10"/>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1" id="11"/>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12" id="12"/>
          <p:cNvGrpSpPr/>
          <p:nvPr/>
        </p:nvGrpSpPr>
        <p:grpSpPr>
          <a:xfrm rot="0">
            <a:off x="1459442" y="5276639"/>
            <a:ext cx="7456794" cy="885770"/>
            <a:chOff x="0" y="0"/>
            <a:chExt cx="1963929" cy="233289"/>
          </a:xfrm>
        </p:grpSpPr>
        <p:sp>
          <p:nvSpPr>
            <p:cNvPr name="Freeform 13" id="13"/>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4" id="14"/>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15" id="15"/>
          <p:cNvGrpSpPr/>
          <p:nvPr/>
        </p:nvGrpSpPr>
        <p:grpSpPr>
          <a:xfrm rot="0">
            <a:off x="9284025" y="5276639"/>
            <a:ext cx="7456794" cy="885770"/>
            <a:chOff x="0" y="0"/>
            <a:chExt cx="1963929" cy="233289"/>
          </a:xfrm>
        </p:grpSpPr>
        <p:sp>
          <p:nvSpPr>
            <p:cNvPr name="Freeform 16" id="16"/>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7" id="17"/>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18" id="18"/>
          <p:cNvGrpSpPr/>
          <p:nvPr/>
        </p:nvGrpSpPr>
        <p:grpSpPr>
          <a:xfrm rot="0">
            <a:off x="1459442" y="6343757"/>
            <a:ext cx="7456794" cy="885770"/>
            <a:chOff x="0" y="0"/>
            <a:chExt cx="1963929" cy="233289"/>
          </a:xfrm>
        </p:grpSpPr>
        <p:sp>
          <p:nvSpPr>
            <p:cNvPr name="Freeform 19" id="19"/>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0" id="20"/>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21" id="21"/>
          <p:cNvGrpSpPr/>
          <p:nvPr/>
        </p:nvGrpSpPr>
        <p:grpSpPr>
          <a:xfrm rot="0">
            <a:off x="9284025" y="6343757"/>
            <a:ext cx="7456794" cy="885770"/>
            <a:chOff x="0" y="0"/>
            <a:chExt cx="1963929" cy="233289"/>
          </a:xfrm>
        </p:grpSpPr>
        <p:sp>
          <p:nvSpPr>
            <p:cNvPr name="Freeform 22" id="22"/>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3" id="23"/>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24" id="24"/>
          <p:cNvGrpSpPr/>
          <p:nvPr/>
        </p:nvGrpSpPr>
        <p:grpSpPr>
          <a:xfrm rot="0">
            <a:off x="1459442" y="7410874"/>
            <a:ext cx="7456794" cy="885770"/>
            <a:chOff x="0" y="0"/>
            <a:chExt cx="1963929" cy="233289"/>
          </a:xfrm>
        </p:grpSpPr>
        <p:sp>
          <p:nvSpPr>
            <p:cNvPr name="Freeform 25" id="25"/>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6" id="26"/>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27" id="27"/>
          <p:cNvGrpSpPr/>
          <p:nvPr/>
        </p:nvGrpSpPr>
        <p:grpSpPr>
          <a:xfrm rot="0">
            <a:off x="9284025" y="7410874"/>
            <a:ext cx="7456794" cy="885770"/>
            <a:chOff x="0" y="0"/>
            <a:chExt cx="1963929" cy="233289"/>
          </a:xfrm>
        </p:grpSpPr>
        <p:sp>
          <p:nvSpPr>
            <p:cNvPr name="Freeform 28" id="28"/>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solidFill>
              <a:srgbClr val="FFFFFF"/>
            </a:solidFill>
            <a:ln w="9525" cap="rnd">
              <a:gradFill>
                <a:gsLst>
                  <a:gs pos="0">
                    <a:srgbClr val="FFFFFF">
                      <a:alpha val="100000"/>
                    </a:srgbClr>
                  </a:gs>
                  <a:gs pos="100000">
                    <a:srgbClr val="DBE3EB">
                      <a:alpha val="100000"/>
                    </a:srgbClr>
                  </a:gs>
                </a:gsLst>
                <a:lin ang="0"/>
              </a:gradFill>
              <a:prstDash val="solid"/>
              <a:round/>
            </a:ln>
          </p:spPr>
        </p:sp>
        <p:sp>
          <p:nvSpPr>
            <p:cNvPr name="TextBox 29" id="29"/>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30" id="30"/>
          <p:cNvGrpSpPr/>
          <p:nvPr/>
        </p:nvGrpSpPr>
        <p:grpSpPr>
          <a:xfrm rot="0">
            <a:off x="1459442" y="8477991"/>
            <a:ext cx="7456794" cy="885770"/>
            <a:chOff x="0" y="0"/>
            <a:chExt cx="1963929" cy="233289"/>
          </a:xfrm>
        </p:grpSpPr>
        <p:sp>
          <p:nvSpPr>
            <p:cNvPr name="Freeform 31" id="31"/>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32" id="32"/>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33" id="33"/>
          <p:cNvGrpSpPr/>
          <p:nvPr/>
        </p:nvGrpSpPr>
        <p:grpSpPr>
          <a:xfrm rot="0">
            <a:off x="9284025" y="8477991"/>
            <a:ext cx="7456794" cy="885770"/>
            <a:chOff x="0" y="0"/>
            <a:chExt cx="1963929" cy="233289"/>
          </a:xfrm>
        </p:grpSpPr>
        <p:sp>
          <p:nvSpPr>
            <p:cNvPr name="Freeform 34" id="34"/>
            <p:cNvSpPr/>
            <p:nvPr/>
          </p:nvSpPr>
          <p:spPr>
            <a:xfrm flipH="false" flipV="false" rot="0">
              <a:off x="0" y="0"/>
              <a:ext cx="1963929" cy="233289"/>
            </a:xfrm>
            <a:custGeom>
              <a:avLst/>
              <a:gdLst/>
              <a:ahLst/>
              <a:cxnLst/>
              <a:rect r="r" b="b" t="t" l="l"/>
              <a:pathLst>
                <a:path h="233289" w="1963929">
                  <a:moveTo>
                    <a:pt x="52950" y="0"/>
                  </a:moveTo>
                  <a:lnTo>
                    <a:pt x="1910979" y="0"/>
                  </a:lnTo>
                  <a:cubicBezTo>
                    <a:pt x="1925022" y="0"/>
                    <a:pt x="1938491" y="5579"/>
                    <a:pt x="1948421" y="15509"/>
                  </a:cubicBezTo>
                  <a:cubicBezTo>
                    <a:pt x="1958351" y="25439"/>
                    <a:pt x="1963929" y="38907"/>
                    <a:pt x="1963929" y="52950"/>
                  </a:cubicBezTo>
                  <a:lnTo>
                    <a:pt x="1963929" y="180339"/>
                  </a:lnTo>
                  <a:cubicBezTo>
                    <a:pt x="1963929" y="194382"/>
                    <a:pt x="1958351" y="207850"/>
                    <a:pt x="1948421" y="217781"/>
                  </a:cubicBezTo>
                  <a:cubicBezTo>
                    <a:pt x="1938491" y="227711"/>
                    <a:pt x="1925022" y="233289"/>
                    <a:pt x="1910979" y="233289"/>
                  </a:cubicBezTo>
                  <a:lnTo>
                    <a:pt x="52950" y="233289"/>
                  </a:lnTo>
                  <a:cubicBezTo>
                    <a:pt x="38907" y="233289"/>
                    <a:pt x="25439" y="227711"/>
                    <a:pt x="15509" y="217781"/>
                  </a:cubicBezTo>
                  <a:cubicBezTo>
                    <a:pt x="5579" y="207850"/>
                    <a:pt x="0" y="194382"/>
                    <a:pt x="0" y="180339"/>
                  </a:cubicBezTo>
                  <a:lnTo>
                    <a:pt x="0" y="52950"/>
                  </a:lnTo>
                  <a:cubicBezTo>
                    <a:pt x="0" y="38907"/>
                    <a:pt x="5579" y="25439"/>
                    <a:pt x="15509" y="15509"/>
                  </a:cubicBezTo>
                  <a:cubicBezTo>
                    <a:pt x="25439" y="5579"/>
                    <a:pt x="38907" y="0"/>
                    <a:pt x="5295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35" id="35"/>
            <p:cNvSpPr txBox="true"/>
            <p:nvPr/>
          </p:nvSpPr>
          <p:spPr>
            <a:xfrm>
              <a:off x="0" y="-66675"/>
              <a:ext cx="1963929" cy="299964"/>
            </a:xfrm>
            <a:prstGeom prst="rect">
              <a:avLst/>
            </a:prstGeom>
          </p:spPr>
          <p:txBody>
            <a:bodyPr anchor="ctr" rtlCol="false" tIns="50800" lIns="50800" bIns="50800" rIns="50800"/>
            <a:lstStyle/>
            <a:p>
              <a:pPr algn="ctr">
                <a:lnSpc>
                  <a:spcPts val="3638"/>
                </a:lnSpc>
              </a:pPr>
            </a:p>
          </p:txBody>
        </p:sp>
      </p:grpSp>
      <p:grpSp>
        <p:nvGrpSpPr>
          <p:cNvPr name="Group 36" id="36"/>
          <p:cNvGrpSpPr/>
          <p:nvPr/>
        </p:nvGrpSpPr>
        <p:grpSpPr>
          <a:xfrm rot="0">
            <a:off x="1028700" y="1569930"/>
            <a:ext cx="16230600" cy="63804"/>
            <a:chOff x="0" y="0"/>
            <a:chExt cx="4052983" cy="15933"/>
          </a:xfrm>
        </p:grpSpPr>
        <p:sp>
          <p:nvSpPr>
            <p:cNvPr name="Freeform 37" id="3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38" id="3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grpSp>
        <p:nvGrpSpPr>
          <p:cNvPr name="Group 39" id="39"/>
          <p:cNvGrpSpPr/>
          <p:nvPr/>
        </p:nvGrpSpPr>
        <p:grpSpPr>
          <a:xfrm rot="0">
            <a:off x="8356351" y="4554892"/>
            <a:ext cx="195032" cy="195032"/>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1" id="41"/>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42" id="42"/>
          <p:cNvGrpSpPr/>
          <p:nvPr/>
        </p:nvGrpSpPr>
        <p:grpSpPr>
          <a:xfrm rot="0">
            <a:off x="16169434" y="4554892"/>
            <a:ext cx="195032" cy="195032"/>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C5FB"/>
            </a:solidFill>
          </p:spPr>
        </p:sp>
        <p:sp>
          <p:nvSpPr>
            <p:cNvPr name="TextBox 44" id="44"/>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45" id="45"/>
          <p:cNvGrpSpPr/>
          <p:nvPr/>
        </p:nvGrpSpPr>
        <p:grpSpPr>
          <a:xfrm rot="0">
            <a:off x="8356351" y="5622009"/>
            <a:ext cx="195032" cy="195032"/>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7" id="47"/>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48" id="48"/>
          <p:cNvGrpSpPr/>
          <p:nvPr/>
        </p:nvGrpSpPr>
        <p:grpSpPr>
          <a:xfrm rot="0">
            <a:off x="16169434" y="5622009"/>
            <a:ext cx="195032" cy="195032"/>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0" id="50"/>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51" id="51"/>
          <p:cNvGrpSpPr/>
          <p:nvPr/>
        </p:nvGrpSpPr>
        <p:grpSpPr>
          <a:xfrm rot="0">
            <a:off x="8142269" y="4554892"/>
            <a:ext cx="195032" cy="195032"/>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3" id="53"/>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54" id="54"/>
          <p:cNvGrpSpPr/>
          <p:nvPr/>
        </p:nvGrpSpPr>
        <p:grpSpPr>
          <a:xfrm rot="0">
            <a:off x="15955352" y="4554892"/>
            <a:ext cx="195032" cy="195032"/>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C5FB"/>
            </a:solidFill>
          </p:spPr>
        </p:sp>
        <p:sp>
          <p:nvSpPr>
            <p:cNvPr name="TextBox 56" id="56"/>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57" id="57"/>
          <p:cNvGrpSpPr/>
          <p:nvPr/>
        </p:nvGrpSpPr>
        <p:grpSpPr>
          <a:xfrm rot="0">
            <a:off x="8142269" y="5622009"/>
            <a:ext cx="195032" cy="195032"/>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9" id="59"/>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60" id="60"/>
          <p:cNvGrpSpPr/>
          <p:nvPr/>
        </p:nvGrpSpPr>
        <p:grpSpPr>
          <a:xfrm rot="0">
            <a:off x="15955352" y="5622009"/>
            <a:ext cx="195032" cy="195032"/>
            <a:chOff x="0" y="0"/>
            <a:chExt cx="812800" cy="812800"/>
          </a:xfrm>
        </p:grpSpPr>
        <p:sp>
          <p:nvSpPr>
            <p:cNvPr name="Freeform 61" id="6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2" id="62"/>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sp>
        <p:nvSpPr>
          <p:cNvPr name="TextBox 63" id="63"/>
          <p:cNvSpPr txBox="true"/>
          <p:nvPr/>
        </p:nvSpPr>
        <p:spPr>
          <a:xfrm rot="0">
            <a:off x="2450498" y="2243334"/>
            <a:ext cx="13387005" cy="1537564"/>
          </a:xfrm>
          <a:prstGeom prst="rect">
            <a:avLst/>
          </a:prstGeom>
        </p:spPr>
        <p:txBody>
          <a:bodyPr anchor="t" rtlCol="false" tIns="0" lIns="0" bIns="0" rIns="0">
            <a:spAutoFit/>
          </a:bodyPr>
          <a:lstStyle/>
          <a:p>
            <a:pPr algn="ctr" marL="0" indent="0" lvl="0">
              <a:lnSpc>
                <a:spcPts val="10713"/>
              </a:lnSpc>
              <a:spcBef>
                <a:spcPct val="0"/>
              </a:spcBef>
            </a:pPr>
            <a:r>
              <a:rPr lang="en-US" sz="13392" spc="-1071">
                <a:solidFill>
                  <a:srgbClr val="F9F9F9"/>
                </a:solidFill>
                <a:latin typeface="Cy Grotesk V3 Key"/>
                <a:ea typeface="Cy Grotesk V3 Key"/>
                <a:cs typeface="Cy Grotesk V3 Key"/>
                <a:sym typeface="Cy Grotesk V3 Key"/>
              </a:rPr>
              <a:t>Table of Contents</a:t>
            </a:r>
          </a:p>
        </p:txBody>
      </p:sp>
      <p:sp>
        <p:nvSpPr>
          <p:cNvPr name="TextBox 64" id="64"/>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FalconVQA</a:t>
            </a:r>
          </a:p>
        </p:txBody>
      </p:sp>
      <p:sp>
        <p:nvSpPr>
          <p:cNvPr name="TextBox 65" id="65"/>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Semantic Video Retrieval</a:t>
            </a:r>
          </a:p>
        </p:txBody>
      </p:sp>
      <p:sp>
        <p:nvSpPr>
          <p:cNvPr name="TextBox 66" id="66"/>
          <p:cNvSpPr txBox="true"/>
          <p:nvPr/>
        </p:nvSpPr>
        <p:spPr>
          <a:xfrm rot="0">
            <a:off x="1850921" y="4248548"/>
            <a:ext cx="1139957" cy="721995"/>
          </a:xfrm>
          <a:prstGeom prst="rect">
            <a:avLst/>
          </a:prstGeom>
        </p:spPr>
        <p:txBody>
          <a:bodyPr anchor="t" rtlCol="false" tIns="0" lIns="0" bIns="0" rIns="0">
            <a:spAutoFit/>
          </a:bodyPr>
          <a:lstStyle/>
          <a:p>
            <a:pPr algn="l">
              <a:lnSpc>
                <a:spcPts val="5880"/>
              </a:lnSpc>
            </a:pPr>
            <a:r>
              <a:rPr lang="en-US" b="true" sz="4200" spc="-147">
                <a:solidFill>
                  <a:srgbClr val="FFFFFF"/>
                </a:solidFill>
                <a:latin typeface="HK Grotesk Bold"/>
                <a:ea typeface="HK Grotesk Bold"/>
                <a:cs typeface="HK Grotesk Bold"/>
                <a:sym typeface="HK Grotesk Bold"/>
              </a:rPr>
              <a:t>01</a:t>
            </a:r>
          </a:p>
        </p:txBody>
      </p:sp>
      <p:sp>
        <p:nvSpPr>
          <p:cNvPr name="TextBox 67" id="67"/>
          <p:cNvSpPr txBox="true"/>
          <p:nvPr/>
        </p:nvSpPr>
        <p:spPr>
          <a:xfrm rot="0">
            <a:off x="9658723" y="4248548"/>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47C5FB"/>
                </a:solidFill>
                <a:latin typeface="HK Grotesk Bold"/>
                <a:ea typeface="HK Grotesk Bold"/>
                <a:cs typeface="HK Grotesk Bold"/>
                <a:sym typeface="HK Grotesk Bold"/>
              </a:rPr>
              <a:t>06</a:t>
            </a:r>
          </a:p>
        </p:txBody>
      </p:sp>
      <p:sp>
        <p:nvSpPr>
          <p:cNvPr name="TextBox 68" id="68"/>
          <p:cNvSpPr txBox="true"/>
          <p:nvPr/>
        </p:nvSpPr>
        <p:spPr>
          <a:xfrm rot="0">
            <a:off x="1831871" y="5315665"/>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FFFFFF"/>
                </a:solidFill>
                <a:latin typeface="HK Grotesk Bold"/>
                <a:ea typeface="HK Grotesk Bold"/>
                <a:cs typeface="HK Grotesk Bold"/>
                <a:sym typeface="HK Grotesk Bold"/>
              </a:rPr>
              <a:t>02</a:t>
            </a:r>
          </a:p>
        </p:txBody>
      </p:sp>
      <p:sp>
        <p:nvSpPr>
          <p:cNvPr name="TextBox 69" id="69"/>
          <p:cNvSpPr txBox="true"/>
          <p:nvPr/>
        </p:nvSpPr>
        <p:spPr>
          <a:xfrm rot="0">
            <a:off x="9658723" y="5315665"/>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FFFFFF"/>
                </a:solidFill>
                <a:latin typeface="HK Grotesk Bold"/>
                <a:ea typeface="HK Grotesk Bold"/>
                <a:cs typeface="HK Grotesk Bold"/>
                <a:sym typeface="HK Grotesk Bold"/>
              </a:rPr>
              <a:t>07</a:t>
            </a:r>
          </a:p>
        </p:txBody>
      </p:sp>
      <p:sp>
        <p:nvSpPr>
          <p:cNvPr name="TextBox 70" id="70"/>
          <p:cNvSpPr txBox="true"/>
          <p:nvPr/>
        </p:nvSpPr>
        <p:spPr>
          <a:xfrm rot="0">
            <a:off x="2990879" y="4370213"/>
            <a:ext cx="369111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Introduction</a:t>
            </a:r>
          </a:p>
        </p:txBody>
      </p:sp>
      <p:sp>
        <p:nvSpPr>
          <p:cNvPr name="TextBox 71" id="71"/>
          <p:cNvSpPr txBox="true"/>
          <p:nvPr/>
        </p:nvSpPr>
        <p:spPr>
          <a:xfrm rot="0">
            <a:off x="10815462" y="4370213"/>
            <a:ext cx="439694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Requirements</a:t>
            </a:r>
          </a:p>
        </p:txBody>
      </p:sp>
      <p:sp>
        <p:nvSpPr>
          <p:cNvPr name="TextBox 72" id="72"/>
          <p:cNvSpPr txBox="true"/>
          <p:nvPr/>
        </p:nvSpPr>
        <p:spPr>
          <a:xfrm rot="0">
            <a:off x="2990879" y="5437330"/>
            <a:ext cx="369111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Problem Statement</a:t>
            </a:r>
          </a:p>
        </p:txBody>
      </p:sp>
      <p:sp>
        <p:nvSpPr>
          <p:cNvPr name="TextBox 73" id="73"/>
          <p:cNvSpPr txBox="true"/>
          <p:nvPr/>
        </p:nvSpPr>
        <p:spPr>
          <a:xfrm rot="0">
            <a:off x="10815462" y="5437330"/>
            <a:ext cx="5354746"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Technology Stack</a:t>
            </a:r>
          </a:p>
        </p:txBody>
      </p:sp>
      <p:sp>
        <p:nvSpPr>
          <p:cNvPr name="TextBox 74" id="74"/>
          <p:cNvSpPr txBox="true"/>
          <p:nvPr/>
        </p:nvSpPr>
        <p:spPr>
          <a:xfrm rot="0">
            <a:off x="1831871" y="6382782"/>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47C5FB"/>
                </a:solidFill>
                <a:latin typeface="HK Grotesk Bold"/>
                <a:ea typeface="HK Grotesk Bold"/>
                <a:cs typeface="HK Grotesk Bold"/>
                <a:sym typeface="HK Grotesk Bold"/>
              </a:rPr>
              <a:t>03</a:t>
            </a:r>
          </a:p>
        </p:txBody>
      </p:sp>
      <p:sp>
        <p:nvSpPr>
          <p:cNvPr name="TextBox 75" id="75"/>
          <p:cNvSpPr txBox="true"/>
          <p:nvPr/>
        </p:nvSpPr>
        <p:spPr>
          <a:xfrm rot="0">
            <a:off x="9658723" y="6382782"/>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FFFFFF"/>
                </a:solidFill>
                <a:latin typeface="HK Grotesk Bold"/>
                <a:ea typeface="HK Grotesk Bold"/>
                <a:cs typeface="HK Grotesk Bold"/>
                <a:sym typeface="HK Grotesk Bold"/>
              </a:rPr>
              <a:t>08</a:t>
            </a:r>
          </a:p>
        </p:txBody>
      </p:sp>
      <p:sp>
        <p:nvSpPr>
          <p:cNvPr name="TextBox 76" id="76"/>
          <p:cNvSpPr txBox="true"/>
          <p:nvPr/>
        </p:nvSpPr>
        <p:spPr>
          <a:xfrm rot="0">
            <a:off x="2990879" y="6504447"/>
            <a:ext cx="369111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Why It Is Difficult</a:t>
            </a:r>
          </a:p>
        </p:txBody>
      </p:sp>
      <p:sp>
        <p:nvSpPr>
          <p:cNvPr name="TextBox 77" id="77"/>
          <p:cNvSpPr txBox="true"/>
          <p:nvPr/>
        </p:nvSpPr>
        <p:spPr>
          <a:xfrm rot="0">
            <a:off x="10815462" y="6504447"/>
            <a:ext cx="369111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System Design and Flow</a:t>
            </a:r>
          </a:p>
        </p:txBody>
      </p:sp>
      <p:sp>
        <p:nvSpPr>
          <p:cNvPr name="TextBox 78" id="78"/>
          <p:cNvSpPr txBox="true"/>
          <p:nvPr/>
        </p:nvSpPr>
        <p:spPr>
          <a:xfrm rot="0">
            <a:off x="1831871" y="7449899"/>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FFFFFF"/>
                </a:solidFill>
                <a:latin typeface="HK Grotesk Bold"/>
                <a:ea typeface="HK Grotesk Bold"/>
                <a:cs typeface="HK Grotesk Bold"/>
                <a:sym typeface="HK Grotesk Bold"/>
              </a:rPr>
              <a:t>04</a:t>
            </a:r>
          </a:p>
        </p:txBody>
      </p:sp>
      <p:sp>
        <p:nvSpPr>
          <p:cNvPr name="TextBox 79" id="79"/>
          <p:cNvSpPr txBox="true"/>
          <p:nvPr/>
        </p:nvSpPr>
        <p:spPr>
          <a:xfrm rot="0">
            <a:off x="9658723" y="7449899"/>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0082B2"/>
                </a:solidFill>
                <a:latin typeface="HK Grotesk Bold"/>
                <a:ea typeface="HK Grotesk Bold"/>
                <a:cs typeface="HK Grotesk Bold"/>
                <a:sym typeface="HK Grotesk Bold"/>
              </a:rPr>
              <a:t>09</a:t>
            </a:r>
          </a:p>
        </p:txBody>
      </p:sp>
      <p:sp>
        <p:nvSpPr>
          <p:cNvPr name="TextBox 80" id="80"/>
          <p:cNvSpPr txBox="true"/>
          <p:nvPr/>
        </p:nvSpPr>
        <p:spPr>
          <a:xfrm rot="0">
            <a:off x="2990879" y="7571564"/>
            <a:ext cx="369111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Objectives</a:t>
            </a:r>
          </a:p>
        </p:txBody>
      </p:sp>
      <p:sp>
        <p:nvSpPr>
          <p:cNvPr name="TextBox 81" id="81"/>
          <p:cNvSpPr txBox="true"/>
          <p:nvPr/>
        </p:nvSpPr>
        <p:spPr>
          <a:xfrm rot="0">
            <a:off x="10815462" y="7571564"/>
            <a:ext cx="3691110" cy="478663"/>
          </a:xfrm>
          <a:prstGeom prst="rect">
            <a:avLst/>
          </a:prstGeom>
        </p:spPr>
        <p:txBody>
          <a:bodyPr anchor="t" rtlCol="false" tIns="0" lIns="0" bIns="0" rIns="0">
            <a:spAutoFit/>
          </a:bodyPr>
          <a:lstStyle/>
          <a:p>
            <a:pPr algn="l">
              <a:lnSpc>
                <a:spcPts val="3925"/>
              </a:lnSpc>
            </a:pPr>
            <a:r>
              <a:rPr lang="en-US" sz="2599" spc="-93">
                <a:solidFill>
                  <a:srgbClr val="0082B2"/>
                </a:solidFill>
                <a:latin typeface="HK Grotesk Light"/>
                <a:ea typeface="HK Grotesk Light"/>
                <a:cs typeface="HK Grotesk Light"/>
                <a:sym typeface="HK Grotesk Light"/>
              </a:rPr>
              <a:t>Database Design</a:t>
            </a:r>
          </a:p>
        </p:txBody>
      </p:sp>
      <p:sp>
        <p:nvSpPr>
          <p:cNvPr name="TextBox 82" id="82"/>
          <p:cNvSpPr txBox="true"/>
          <p:nvPr/>
        </p:nvSpPr>
        <p:spPr>
          <a:xfrm rot="0">
            <a:off x="1831871" y="8517016"/>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FFFFFF"/>
                </a:solidFill>
                <a:latin typeface="HK Grotesk Bold"/>
                <a:ea typeface="HK Grotesk Bold"/>
                <a:cs typeface="HK Grotesk Bold"/>
                <a:sym typeface="HK Grotesk Bold"/>
              </a:rPr>
              <a:t>05</a:t>
            </a:r>
          </a:p>
        </p:txBody>
      </p:sp>
      <p:sp>
        <p:nvSpPr>
          <p:cNvPr name="TextBox 83" id="83"/>
          <p:cNvSpPr txBox="true"/>
          <p:nvPr/>
        </p:nvSpPr>
        <p:spPr>
          <a:xfrm rot="0">
            <a:off x="9675504" y="8517016"/>
            <a:ext cx="1139957" cy="721995"/>
          </a:xfrm>
          <a:prstGeom prst="rect">
            <a:avLst/>
          </a:prstGeom>
        </p:spPr>
        <p:txBody>
          <a:bodyPr anchor="t" rtlCol="false" tIns="0" lIns="0" bIns="0" rIns="0">
            <a:spAutoFit/>
          </a:bodyPr>
          <a:lstStyle/>
          <a:p>
            <a:pPr algn="l" marL="0" indent="0" lvl="0">
              <a:lnSpc>
                <a:spcPts val="5880"/>
              </a:lnSpc>
              <a:spcBef>
                <a:spcPct val="0"/>
              </a:spcBef>
            </a:pPr>
            <a:r>
              <a:rPr lang="en-US" b="true" sz="4200" spc="-147" strike="noStrike" u="none">
                <a:solidFill>
                  <a:srgbClr val="FFFFFF"/>
                </a:solidFill>
                <a:latin typeface="HK Grotesk Bold"/>
                <a:ea typeface="HK Grotesk Bold"/>
                <a:cs typeface="HK Grotesk Bold"/>
                <a:sym typeface="HK Grotesk Bold"/>
              </a:rPr>
              <a:t>10</a:t>
            </a:r>
          </a:p>
        </p:txBody>
      </p:sp>
      <p:sp>
        <p:nvSpPr>
          <p:cNvPr name="TextBox 84" id="84"/>
          <p:cNvSpPr txBox="true"/>
          <p:nvPr/>
        </p:nvSpPr>
        <p:spPr>
          <a:xfrm rot="0">
            <a:off x="2990879" y="8638681"/>
            <a:ext cx="369111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Methodology</a:t>
            </a:r>
          </a:p>
        </p:txBody>
      </p:sp>
      <p:sp>
        <p:nvSpPr>
          <p:cNvPr name="TextBox 85" id="85"/>
          <p:cNvSpPr txBox="true"/>
          <p:nvPr/>
        </p:nvSpPr>
        <p:spPr>
          <a:xfrm rot="0">
            <a:off x="10815462" y="8638681"/>
            <a:ext cx="3691110" cy="478663"/>
          </a:xfrm>
          <a:prstGeom prst="rect">
            <a:avLst/>
          </a:prstGeom>
        </p:spPr>
        <p:txBody>
          <a:bodyPr anchor="t" rtlCol="false" tIns="0" lIns="0" bIns="0" rIns="0">
            <a:spAutoFit/>
          </a:bodyPr>
          <a:lstStyle/>
          <a:p>
            <a:pPr algn="l">
              <a:lnSpc>
                <a:spcPts val="3925"/>
              </a:lnSpc>
            </a:pPr>
            <a:r>
              <a:rPr lang="en-US" sz="2599" spc="-93">
                <a:solidFill>
                  <a:srgbClr val="FFFFFF"/>
                </a:solidFill>
                <a:latin typeface="HK Grotesk Light"/>
                <a:ea typeface="HK Grotesk Light"/>
                <a:cs typeface="HK Grotesk Light"/>
                <a:sym typeface="HK Grotesk Light"/>
              </a:rPr>
              <a:t>Outcomes and Conclusion</a:t>
            </a:r>
          </a:p>
        </p:txBody>
      </p:sp>
      <p:grpSp>
        <p:nvGrpSpPr>
          <p:cNvPr name="Group 86" id="86"/>
          <p:cNvGrpSpPr/>
          <p:nvPr/>
        </p:nvGrpSpPr>
        <p:grpSpPr>
          <a:xfrm rot="0">
            <a:off x="8356351" y="6686284"/>
            <a:ext cx="195032" cy="195032"/>
            <a:chOff x="0" y="0"/>
            <a:chExt cx="812800" cy="812800"/>
          </a:xfrm>
        </p:grpSpPr>
        <p:sp>
          <p:nvSpPr>
            <p:cNvPr name="Freeform 87" id="8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C5FB"/>
            </a:solidFill>
          </p:spPr>
        </p:sp>
        <p:sp>
          <p:nvSpPr>
            <p:cNvPr name="TextBox 88" id="88"/>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89" id="89"/>
          <p:cNvGrpSpPr/>
          <p:nvPr/>
        </p:nvGrpSpPr>
        <p:grpSpPr>
          <a:xfrm rot="0">
            <a:off x="16169434" y="6686284"/>
            <a:ext cx="195032" cy="195032"/>
            <a:chOff x="0" y="0"/>
            <a:chExt cx="812800" cy="812800"/>
          </a:xfrm>
        </p:grpSpPr>
        <p:sp>
          <p:nvSpPr>
            <p:cNvPr name="Freeform 90" id="9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91" id="91"/>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92" id="92"/>
          <p:cNvGrpSpPr/>
          <p:nvPr/>
        </p:nvGrpSpPr>
        <p:grpSpPr>
          <a:xfrm rot="0">
            <a:off x="8142269" y="6686284"/>
            <a:ext cx="195032" cy="195032"/>
            <a:chOff x="0" y="0"/>
            <a:chExt cx="812800" cy="812800"/>
          </a:xfrm>
        </p:grpSpPr>
        <p:sp>
          <p:nvSpPr>
            <p:cNvPr name="Freeform 93" id="9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C5FB"/>
            </a:solidFill>
          </p:spPr>
        </p:sp>
        <p:sp>
          <p:nvSpPr>
            <p:cNvPr name="TextBox 94" id="94"/>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95" id="95"/>
          <p:cNvGrpSpPr/>
          <p:nvPr/>
        </p:nvGrpSpPr>
        <p:grpSpPr>
          <a:xfrm rot="0">
            <a:off x="15955352" y="6686284"/>
            <a:ext cx="195032" cy="195032"/>
            <a:chOff x="0" y="0"/>
            <a:chExt cx="812800" cy="812800"/>
          </a:xfrm>
        </p:grpSpPr>
        <p:sp>
          <p:nvSpPr>
            <p:cNvPr name="Freeform 96" id="9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97" id="97"/>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98" id="98"/>
          <p:cNvGrpSpPr/>
          <p:nvPr/>
        </p:nvGrpSpPr>
        <p:grpSpPr>
          <a:xfrm rot="0">
            <a:off x="8356351" y="7750560"/>
            <a:ext cx="195032" cy="195032"/>
            <a:chOff x="0" y="0"/>
            <a:chExt cx="812800" cy="812800"/>
          </a:xfrm>
        </p:grpSpPr>
        <p:sp>
          <p:nvSpPr>
            <p:cNvPr name="Freeform 99" id="9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0" id="100"/>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01" id="101"/>
          <p:cNvGrpSpPr/>
          <p:nvPr/>
        </p:nvGrpSpPr>
        <p:grpSpPr>
          <a:xfrm rot="0">
            <a:off x="16169434" y="7750560"/>
            <a:ext cx="195032" cy="195032"/>
            <a:chOff x="0" y="0"/>
            <a:chExt cx="812800" cy="812800"/>
          </a:xfrm>
        </p:grpSpPr>
        <p:sp>
          <p:nvSpPr>
            <p:cNvPr name="Freeform 102" id="10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82B2"/>
            </a:solidFill>
          </p:spPr>
        </p:sp>
        <p:sp>
          <p:nvSpPr>
            <p:cNvPr name="TextBox 103" id="103"/>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04" id="104"/>
          <p:cNvGrpSpPr/>
          <p:nvPr/>
        </p:nvGrpSpPr>
        <p:grpSpPr>
          <a:xfrm rot="0">
            <a:off x="8142269" y="7750560"/>
            <a:ext cx="195032" cy="195032"/>
            <a:chOff x="0" y="0"/>
            <a:chExt cx="812800" cy="812800"/>
          </a:xfrm>
        </p:grpSpPr>
        <p:sp>
          <p:nvSpPr>
            <p:cNvPr name="Freeform 105" id="10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6" id="106"/>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07" id="107"/>
          <p:cNvGrpSpPr/>
          <p:nvPr/>
        </p:nvGrpSpPr>
        <p:grpSpPr>
          <a:xfrm rot="0">
            <a:off x="15955352" y="7750560"/>
            <a:ext cx="195032" cy="195032"/>
            <a:chOff x="0" y="0"/>
            <a:chExt cx="812800" cy="812800"/>
          </a:xfrm>
        </p:grpSpPr>
        <p:sp>
          <p:nvSpPr>
            <p:cNvPr name="Freeform 108" id="10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82B2"/>
            </a:solidFill>
          </p:spPr>
        </p:sp>
        <p:sp>
          <p:nvSpPr>
            <p:cNvPr name="TextBox 109" id="109"/>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10" id="110"/>
          <p:cNvGrpSpPr/>
          <p:nvPr/>
        </p:nvGrpSpPr>
        <p:grpSpPr>
          <a:xfrm rot="0">
            <a:off x="8356351" y="8814836"/>
            <a:ext cx="195032" cy="195032"/>
            <a:chOff x="0" y="0"/>
            <a:chExt cx="812800" cy="812800"/>
          </a:xfrm>
        </p:grpSpPr>
        <p:sp>
          <p:nvSpPr>
            <p:cNvPr name="Freeform 111" id="1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2" id="112"/>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13" id="113"/>
          <p:cNvGrpSpPr/>
          <p:nvPr/>
        </p:nvGrpSpPr>
        <p:grpSpPr>
          <a:xfrm rot="0">
            <a:off x="16169434" y="8814836"/>
            <a:ext cx="195032" cy="195032"/>
            <a:chOff x="0" y="0"/>
            <a:chExt cx="812800" cy="812800"/>
          </a:xfrm>
        </p:grpSpPr>
        <p:sp>
          <p:nvSpPr>
            <p:cNvPr name="Freeform 114" id="1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5" id="115"/>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16" id="116"/>
          <p:cNvGrpSpPr/>
          <p:nvPr/>
        </p:nvGrpSpPr>
        <p:grpSpPr>
          <a:xfrm rot="0">
            <a:off x="8142269" y="8814836"/>
            <a:ext cx="195032" cy="195032"/>
            <a:chOff x="0" y="0"/>
            <a:chExt cx="812800" cy="812800"/>
          </a:xfrm>
        </p:grpSpPr>
        <p:sp>
          <p:nvSpPr>
            <p:cNvPr name="Freeform 117" id="1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18" id="118"/>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19" id="119"/>
          <p:cNvGrpSpPr/>
          <p:nvPr/>
        </p:nvGrpSpPr>
        <p:grpSpPr>
          <a:xfrm rot="0">
            <a:off x="15955352" y="8814836"/>
            <a:ext cx="195032" cy="195032"/>
            <a:chOff x="0" y="0"/>
            <a:chExt cx="812800" cy="812800"/>
          </a:xfrm>
        </p:grpSpPr>
        <p:sp>
          <p:nvSpPr>
            <p:cNvPr name="Freeform 120" id="1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21" id="121"/>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9872930" y="2233512"/>
            <a:ext cx="3824268" cy="7024788"/>
            <a:chOff x="0" y="0"/>
            <a:chExt cx="1007215" cy="1850150"/>
          </a:xfrm>
        </p:grpSpPr>
        <p:sp>
          <p:nvSpPr>
            <p:cNvPr name="Freeform 10" id="10"/>
            <p:cNvSpPr/>
            <p:nvPr/>
          </p:nvSpPr>
          <p:spPr>
            <a:xfrm flipH="false" flipV="false" rot="0">
              <a:off x="0" y="0"/>
              <a:ext cx="1007215" cy="1850150"/>
            </a:xfrm>
            <a:custGeom>
              <a:avLst/>
              <a:gdLst/>
              <a:ahLst/>
              <a:cxnLst/>
              <a:rect r="r" b="b" t="t" l="l"/>
              <a:pathLst>
                <a:path h="1850150" w="1007215">
                  <a:moveTo>
                    <a:pt x="103245" y="0"/>
                  </a:moveTo>
                  <a:lnTo>
                    <a:pt x="903969" y="0"/>
                  </a:lnTo>
                  <a:cubicBezTo>
                    <a:pt x="931352" y="0"/>
                    <a:pt x="957613" y="10878"/>
                    <a:pt x="976975" y="30240"/>
                  </a:cubicBezTo>
                  <a:cubicBezTo>
                    <a:pt x="996337" y="49602"/>
                    <a:pt x="1007215" y="75863"/>
                    <a:pt x="1007215" y="103245"/>
                  </a:cubicBezTo>
                  <a:lnTo>
                    <a:pt x="1007215" y="1746905"/>
                  </a:lnTo>
                  <a:cubicBezTo>
                    <a:pt x="1007215" y="1774287"/>
                    <a:pt x="996337" y="1800548"/>
                    <a:pt x="976975" y="1819910"/>
                  </a:cubicBezTo>
                  <a:cubicBezTo>
                    <a:pt x="957613" y="1839272"/>
                    <a:pt x="931352" y="1850150"/>
                    <a:pt x="903969" y="1850150"/>
                  </a:cubicBezTo>
                  <a:lnTo>
                    <a:pt x="103245" y="1850150"/>
                  </a:lnTo>
                  <a:cubicBezTo>
                    <a:pt x="75863" y="1850150"/>
                    <a:pt x="49602" y="1839272"/>
                    <a:pt x="30240" y="1819910"/>
                  </a:cubicBezTo>
                  <a:cubicBezTo>
                    <a:pt x="10878" y="1800548"/>
                    <a:pt x="0" y="1774287"/>
                    <a:pt x="0" y="1746905"/>
                  </a:cubicBezTo>
                  <a:lnTo>
                    <a:pt x="0" y="103245"/>
                  </a:lnTo>
                  <a:cubicBezTo>
                    <a:pt x="0" y="75863"/>
                    <a:pt x="10878" y="49602"/>
                    <a:pt x="30240" y="30240"/>
                  </a:cubicBezTo>
                  <a:cubicBezTo>
                    <a:pt x="49602" y="10878"/>
                    <a:pt x="75863" y="0"/>
                    <a:pt x="103245"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1" id="11"/>
            <p:cNvSpPr txBox="true"/>
            <p:nvPr/>
          </p:nvSpPr>
          <p:spPr>
            <a:xfrm>
              <a:off x="0" y="-66675"/>
              <a:ext cx="1007215" cy="1916825"/>
            </a:xfrm>
            <a:prstGeom prst="rect">
              <a:avLst/>
            </a:prstGeom>
          </p:spPr>
          <p:txBody>
            <a:bodyPr anchor="ctr" rtlCol="false" tIns="50800" lIns="50800" bIns="50800" rIns="50800"/>
            <a:lstStyle/>
            <a:p>
              <a:pPr algn="ctr">
                <a:lnSpc>
                  <a:spcPts val="3638"/>
                </a:lnSpc>
              </a:pPr>
            </a:p>
          </p:txBody>
        </p:sp>
      </p:grpSp>
      <p:sp>
        <p:nvSpPr>
          <p:cNvPr name="TextBox 12" id="12"/>
          <p:cNvSpPr txBox="true"/>
          <p:nvPr/>
        </p:nvSpPr>
        <p:spPr>
          <a:xfrm rot="0">
            <a:off x="1172110" y="2934055"/>
            <a:ext cx="13387005" cy="1537564"/>
          </a:xfrm>
          <a:prstGeom prst="rect">
            <a:avLst/>
          </a:prstGeom>
        </p:spPr>
        <p:txBody>
          <a:bodyPr anchor="t" rtlCol="false" tIns="0" lIns="0" bIns="0" rIns="0">
            <a:spAutoFit/>
          </a:bodyPr>
          <a:lstStyle/>
          <a:p>
            <a:pPr algn="l" marL="0" indent="0" lvl="0">
              <a:lnSpc>
                <a:spcPts val="10713"/>
              </a:lnSpc>
              <a:spcBef>
                <a:spcPct val="0"/>
              </a:spcBef>
            </a:pPr>
            <a:r>
              <a:rPr lang="en-US" sz="13392" spc="-1071">
                <a:solidFill>
                  <a:srgbClr val="F9F9F9"/>
                </a:solidFill>
                <a:latin typeface="Cy Grotesk V3 Key"/>
                <a:ea typeface="Cy Grotesk V3 Key"/>
                <a:cs typeface="Cy Grotesk V3 Key"/>
                <a:sym typeface="Cy Grotesk V3 Key"/>
              </a:rPr>
              <a:t>Introduction</a:t>
            </a:r>
          </a:p>
        </p:txBody>
      </p:sp>
      <p:grpSp>
        <p:nvGrpSpPr>
          <p:cNvPr name="Group 13" id="13"/>
          <p:cNvGrpSpPr/>
          <p:nvPr/>
        </p:nvGrpSpPr>
        <p:grpSpPr>
          <a:xfrm rot="0">
            <a:off x="10997261" y="1982089"/>
            <a:ext cx="6262039" cy="7527634"/>
            <a:chOff x="0" y="0"/>
            <a:chExt cx="1221676" cy="1468584"/>
          </a:xfrm>
        </p:grpSpPr>
        <p:sp>
          <p:nvSpPr>
            <p:cNvPr name="Freeform 14" id="14"/>
            <p:cNvSpPr/>
            <p:nvPr/>
          </p:nvSpPr>
          <p:spPr>
            <a:xfrm flipH="false" flipV="false" rot="0">
              <a:off x="0" y="0"/>
              <a:ext cx="1221676" cy="1468584"/>
            </a:xfrm>
            <a:custGeom>
              <a:avLst/>
              <a:gdLst/>
              <a:ahLst/>
              <a:cxnLst/>
              <a:rect r="r" b="b" t="t" l="l"/>
              <a:pathLst>
                <a:path h="1468584" w="1221676">
                  <a:moveTo>
                    <a:pt x="54398" y="0"/>
                  </a:moveTo>
                  <a:lnTo>
                    <a:pt x="1167278" y="0"/>
                  </a:lnTo>
                  <a:cubicBezTo>
                    <a:pt x="1197321" y="0"/>
                    <a:pt x="1221676" y="24355"/>
                    <a:pt x="1221676" y="54398"/>
                  </a:cubicBezTo>
                  <a:lnTo>
                    <a:pt x="1221676" y="1414186"/>
                  </a:lnTo>
                  <a:cubicBezTo>
                    <a:pt x="1221676" y="1428613"/>
                    <a:pt x="1215945" y="1442450"/>
                    <a:pt x="1205744" y="1452652"/>
                  </a:cubicBezTo>
                  <a:cubicBezTo>
                    <a:pt x="1195542" y="1462853"/>
                    <a:pt x="1181705" y="1468584"/>
                    <a:pt x="1167278" y="1468584"/>
                  </a:cubicBezTo>
                  <a:lnTo>
                    <a:pt x="54398" y="1468584"/>
                  </a:lnTo>
                  <a:cubicBezTo>
                    <a:pt x="39971" y="1468584"/>
                    <a:pt x="26135" y="1462853"/>
                    <a:pt x="15933" y="1452652"/>
                  </a:cubicBezTo>
                  <a:cubicBezTo>
                    <a:pt x="5731" y="1442450"/>
                    <a:pt x="0" y="1428613"/>
                    <a:pt x="0" y="1414186"/>
                  </a:cubicBezTo>
                  <a:lnTo>
                    <a:pt x="0" y="54398"/>
                  </a:lnTo>
                  <a:cubicBezTo>
                    <a:pt x="0" y="39971"/>
                    <a:pt x="5731" y="26135"/>
                    <a:pt x="15933" y="15933"/>
                  </a:cubicBezTo>
                  <a:cubicBezTo>
                    <a:pt x="26135" y="5731"/>
                    <a:pt x="39971" y="0"/>
                    <a:pt x="54398" y="0"/>
                  </a:cubicBezTo>
                  <a:close/>
                </a:path>
              </a:pathLst>
            </a:custGeom>
            <a:blipFill>
              <a:blip r:embed="rId6"/>
              <a:stretch>
                <a:fillRect l="0" t="-1992" r="0" b="-1992"/>
              </a:stretch>
            </a:blipFill>
            <a:ln w="19050" cap="rnd">
              <a:gradFill>
                <a:gsLst>
                  <a:gs pos="0">
                    <a:srgbClr val="FFC4E1">
                      <a:alpha val="0"/>
                    </a:srgbClr>
                  </a:gs>
                  <a:gs pos="25000">
                    <a:srgbClr val="FFC4E1">
                      <a:alpha val="59500"/>
                    </a:srgbClr>
                  </a:gs>
                  <a:gs pos="50000">
                    <a:srgbClr val="FFDAEC">
                      <a:alpha val="100000"/>
                    </a:srgbClr>
                  </a:gs>
                  <a:gs pos="75000">
                    <a:srgbClr val="FFC4E1">
                      <a:alpha val="60000"/>
                    </a:srgbClr>
                  </a:gs>
                  <a:gs pos="100000">
                    <a:srgbClr val="FFC4E1">
                      <a:alpha val="0"/>
                    </a:srgbClr>
                  </a:gs>
                </a:gsLst>
                <a:lin ang="2700000"/>
              </a:gradFill>
              <a:prstDash val="solid"/>
              <a:round/>
            </a:ln>
          </p:spPr>
        </p:sp>
      </p:grpSp>
      <p:sp>
        <p:nvSpPr>
          <p:cNvPr name="TextBox 15" id="15"/>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FalconVQA</a:t>
            </a:r>
          </a:p>
        </p:txBody>
      </p:sp>
      <p:sp>
        <p:nvSpPr>
          <p:cNvPr name="TextBox 16" id="16"/>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Semantic Video Retrieval</a:t>
            </a:r>
          </a:p>
        </p:txBody>
      </p:sp>
      <p:sp>
        <p:nvSpPr>
          <p:cNvPr name="TextBox 17" id="17"/>
          <p:cNvSpPr txBox="true"/>
          <p:nvPr/>
        </p:nvSpPr>
        <p:spPr>
          <a:xfrm rot="0">
            <a:off x="1326378" y="6103940"/>
            <a:ext cx="7291346" cy="1331595"/>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FalconVQA is a retrieval and question answering system for recorded video, developed with surveillance footage as its primary domain. It turns a continuous, unlabelled recording into an index searchable with an ordinary sentence.</a:t>
            </a:r>
          </a:p>
        </p:txBody>
      </p:sp>
      <p:sp>
        <p:nvSpPr>
          <p:cNvPr name="TextBox 18" id="18"/>
          <p:cNvSpPr txBox="true"/>
          <p:nvPr/>
        </p:nvSpPr>
        <p:spPr>
          <a:xfrm rot="0">
            <a:off x="1326378" y="7789761"/>
            <a:ext cx="7291346" cy="1331595"/>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The name records four properties: retrieval fast enough to be interactive, an index augmented with structured descriptions produced by vision and audio models, a language-based query interface, and a conversational path that returns cited answers.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FalconVQA</a:t>
            </a:r>
          </a:p>
        </p:txBody>
      </p:sp>
      <p:sp>
        <p:nvSpPr>
          <p:cNvPr name="TextBox 10" id="1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Semantic Video Retrieval</a:t>
            </a:r>
          </a:p>
        </p:txBody>
      </p:sp>
      <p:grpSp>
        <p:nvGrpSpPr>
          <p:cNvPr name="Group 11" id="11"/>
          <p:cNvGrpSpPr/>
          <p:nvPr/>
        </p:nvGrpSpPr>
        <p:grpSpPr>
          <a:xfrm rot="0">
            <a:off x="10412629" y="2233512"/>
            <a:ext cx="6846671" cy="7024788"/>
            <a:chOff x="0" y="0"/>
            <a:chExt cx="1803239" cy="1850150"/>
          </a:xfrm>
        </p:grpSpPr>
        <p:sp>
          <p:nvSpPr>
            <p:cNvPr name="Freeform 12" id="12"/>
            <p:cNvSpPr/>
            <p:nvPr/>
          </p:nvSpPr>
          <p:spPr>
            <a:xfrm flipH="false" flipV="false" rot="0">
              <a:off x="0" y="0"/>
              <a:ext cx="1803239" cy="1850150"/>
            </a:xfrm>
            <a:custGeom>
              <a:avLst/>
              <a:gdLst/>
              <a:ahLst/>
              <a:cxnLst/>
              <a:rect r="r" b="b" t="t" l="l"/>
              <a:pathLst>
                <a:path h="1850150" w="1803239">
                  <a:moveTo>
                    <a:pt x="57669" y="0"/>
                  </a:moveTo>
                  <a:lnTo>
                    <a:pt x="1745570" y="0"/>
                  </a:lnTo>
                  <a:cubicBezTo>
                    <a:pt x="1777419" y="0"/>
                    <a:pt x="1803239" y="25819"/>
                    <a:pt x="1803239" y="57669"/>
                  </a:cubicBezTo>
                  <a:lnTo>
                    <a:pt x="1803239" y="1792481"/>
                  </a:lnTo>
                  <a:cubicBezTo>
                    <a:pt x="1803239" y="1824331"/>
                    <a:pt x="1777419" y="1850150"/>
                    <a:pt x="1745570" y="1850150"/>
                  </a:cubicBezTo>
                  <a:lnTo>
                    <a:pt x="57669" y="1850150"/>
                  </a:lnTo>
                  <a:cubicBezTo>
                    <a:pt x="25819" y="1850150"/>
                    <a:pt x="0" y="1824331"/>
                    <a:pt x="0" y="1792481"/>
                  </a:cubicBezTo>
                  <a:lnTo>
                    <a:pt x="0" y="57669"/>
                  </a:lnTo>
                  <a:cubicBezTo>
                    <a:pt x="0" y="25819"/>
                    <a:pt x="25819" y="0"/>
                    <a:pt x="57669"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3" id="13"/>
            <p:cNvSpPr txBox="true"/>
            <p:nvPr/>
          </p:nvSpPr>
          <p:spPr>
            <a:xfrm>
              <a:off x="0" y="-66675"/>
              <a:ext cx="1803239" cy="1916825"/>
            </a:xfrm>
            <a:prstGeom prst="rect">
              <a:avLst/>
            </a:prstGeom>
          </p:spPr>
          <p:txBody>
            <a:bodyPr anchor="ctr" rtlCol="false" tIns="50800" lIns="50800" bIns="50800" rIns="50800"/>
            <a:lstStyle/>
            <a:p>
              <a:pPr algn="ctr">
                <a:lnSpc>
                  <a:spcPts val="3638"/>
                </a:lnSpc>
              </a:pPr>
            </a:p>
          </p:txBody>
        </p:sp>
      </p:grpSp>
      <p:sp>
        <p:nvSpPr>
          <p:cNvPr name="TextBox 14" id="14"/>
          <p:cNvSpPr txBox="true"/>
          <p:nvPr/>
        </p:nvSpPr>
        <p:spPr>
          <a:xfrm rot="0">
            <a:off x="1028700" y="4637831"/>
            <a:ext cx="11099246" cy="2692401"/>
          </a:xfrm>
          <a:prstGeom prst="rect">
            <a:avLst/>
          </a:prstGeom>
        </p:spPr>
        <p:txBody>
          <a:bodyPr anchor="t" rtlCol="false" tIns="0" lIns="0" bIns="0" rIns="0">
            <a:spAutoFit/>
          </a:bodyPr>
          <a:lstStyle/>
          <a:p>
            <a:pPr algn="l" marL="0" indent="0" lvl="0">
              <a:lnSpc>
                <a:spcPts val="10000"/>
              </a:lnSpc>
              <a:spcBef>
                <a:spcPct val="0"/>
              </a:spcBef>
            </a:pPr>
            <a:r>
              <a:rPr lang="en-US" sz="12500" spc="-1000">
                <a:solidFill>
                  <a:srgbClr val="F9F9F9"/>
                </a:solidFill>
                <a:latin typeface="Cy Grotesk V3 Key"/>
                <a:ea typeface="Cy Grotesk V3 Key"/>
                <a:cs typeface="Cy Grotesk V3 Key"/>
                <a:sym typeface="Cy Grotesk V3 Key"/>
              </a:rPr>
              <a:t>Problem Statement</a:t>
            </a:r>
          </a:p>
        </p:txBody>
      </p:sp>
      <p:sp>
        <p:nvSpPr>
          <p:cNvPr name="TextBox 15" id="15"/>
          <p:cNvSpPr txBox="true"/>
          <p:nvPr/>
        </p:nvSpPr>
        <p:spPr>
          <a:xfrm rot="0">
            <a:off x="1028700" y="7882853"/>
            <a:ext cx="7291346" cy="1331595"/>
          </a:xfrm>
          <a:prstGeom prst="rect">
            <a:avLst/>
          </a:prstGeom>
        </p:spPr>
        <p:txBody>
          <a:bodyPr anchor="t" rtlCol="false" tIns="0" lIns="0" bIns="0" rIns="0">
            <a:spAutoFit/>
          </a:bodyPr>
          <a:lstStyle/>
          <a:p>
            <a:pPr algn="l">
              <a:lnSpc>
                <a:spcPts val="2640"/>
              </a:lnSpc>
            </a:pPr>
            <a:r>
              <a:rPr lang="en-US" sz="1800" spc="-110">
                <a:solidFill>
                  <a:srgbClr val="FFFFFF"/>
                </a:solidFill>
                <a:latin typeface="HK Grotesk"/>
                <a:ea typeface="HK Grotesk"/>
                <a:cs typeface="HK Grotesk"/>
                <a:sym typeface="HK Grotesk"/>
              </a:rPr>
              <a:t>A NATURAL LANGUAGE FRONT END TO EXTRACT VIDEO FROM A RECORDED FOOTAGE BASED ON DESCRIPTION - Input a text description to semantically search and retrieve matching clips from recorded video archives using NLP and vision-language models.</a:t>
            </a:r>
          </a:p>
        </p:txBody>
      </p:sp>
      <p:sp>
        <p:nvSpPr>
          <p:cNvPr name="TextBox 16" id="16"/>
          <p:cNvSpPr txBox="true"/>
          <p:nvPr/>
        </p:nvSpPr>
        <p:spPr>
          <a:xfrm rot="0">
            <a:off x="10912792" y="3571610"/>
            <a:ext cx="6071251"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Surveillance footage is recorded onto network video recorders and indexed by nothing but a clock. Locating an incident means entering a date and time and reviewing what comes back, which works only when the time is already known.</a:t>
            </a:r>
          </a:p>
        </p:txBody>
      </p:sp>
      <p:sp>
        <p:nvSpPr>
          <p:cNvPr name="TextBox 17" id="17"/>
          <p:cNvSpPr txBox="true"/>
          <p:nvPr/>
        </p:nvSpPr>
        <p:spPr>
          <a:xfrm rot="0">
            <a:off x="10912792" y="6770841"/>
            <a:ext cx="6071251"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What is available in practice is an account from a witness or a report: a man in a yellow shirt left a bag near the checkout. No stage of the recording chain produces a description of the content, so such a query cannot be issued at all.</a:t>
            </a:r>
          </a:p>
        </p:txBody>
      </p:sp>
      <p:sp>
        <p:nvSpPr>
          <p:cNvPr name="TextBox 18" id="18"/>
          <p:cNvSpPr txBox="true"/>
          <p:nvPr/>
        </p:nvSpPr>
        <p:spPr>
          <a:xfrm rot="0">
            <a:off x="10926783" y="2843150"/>
            <a:ext cx="3691110" cy="508890"/>
          </a:xfrm>
          <a:prstGeom prst="rect">
            <a:avLst/>
          </a:prstGeom>
        </p:spPr>
        <p:txBody>
          <a:bodyPr anchor="t" rtlCol="false" tIns="0" lIns="0" bIns="0" rIns="0">
            <a:spAutoFit/>
          </a:bodyPr>
          <a:lstStyle/>
          <a:p>
            <a:pPr algn="l">
              <a:lnSpc>
                <a:spcPts val="4227"/>
              </a:lnSpc>
            </a:pPr>
            <a:r>
              <a:rPr lang="en-US" sz="2400" b="true">
                <a:solidFill>
                  <a:srgbClr val="FFFFFF"/>
                </a:solidFill>
                <a:latin typeface="HK Grotesk Bold"/>
                <a:ea typeface="HK Grotesk Bold"/>
                <a:cs typeface="HK Grotesk Bold"/>
                <a:sym typeface="HK Grotesk Bold"/>
              </a:rPr>
              <a:t>Indexed by a Clock</a:t>
            </a:r>
          </a:p>
        </p:txBody>
      </p:sp>
      <p:sp>
        <p:nvSpPr>
          <p:cNvPr name="TextBox 19" id="19"/>
          <p:cNvSpPr txBox="true"/>
          <p:nvPr/>
        </p:nvSpPr>
        <p:spPr>
          <a:xfrm rot="0">
            <a:off x="10926783" y="6042381"/>
            <a:ext cx="3691110" cy="508890"/>
          </a:xfrm>
          <a:prstGeom prst="rect">
            <a:avLst/>
          </a:prstGeom>
        </p:spPr>
        <p:txBody>
          <a:bodyPr anchor="t" rtlCol="false" tIns="0" lIns="0" bIns="0" rIns="0">
            <a:spAutoFit/>
          </a:bodyPr>
          <a:lstStyle/>
          <a:p>
            <a:pPr algn="l">
              <a:lnSpc>
                <a:spcPts val="4227"/>
              </a:lnSpc>
            </a:pPr>
            <a:r>
              <a:rPr lang="en-US" sz="2400" b="true">
                <a:solidFill>
                  <a:srgbClr val="FFFFFF"/>
                </a:solidFill>
                <a:latin typeface="HK Grotesk Bold"/>
                <a:ea typeface="HK Grotesk Bold"/>
                <a:cs typeface="HK Grotesk Bold"/>
                <a:sym typeface="HK Grotesk Bold"/>
              </a:rPr>
              <a:t>No Description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338588" y="2018423"/>
            <a:ext cx="7612070" cy="3686536"/>
            <a:chOff x="0" y="0"/>
            <a:chExt cx="2004825" cy="970940"/>
          </a:xfrm>
        </p:grpSpPr>
        <p:sp>
          <p:nvSpPr>
            <p:cNvPr name="Freeform 10" id="10"/>
            <p:cNvSpPr/>
            <p:nvPr/>
          </p:nvSpPr>
          <p:spPr>
            <a:xfrm flipH="false" flipV="false" rot="0">
              <a:off x="0" y="0"/>
              <a:ext cx="2004825" cy="970940"/>
            </a:xfrm>
            <a:custGeom>
              <a:avLst/>
              <a:gdLst/>
              <a:ahLst/>
              <a:cxnLst/>
              <a:rect r="r" b="b" t="t" l="l"/>
              <a:pathLst>
                <a:path h="970940" w="2004825">
                  <a:moveTo>
                    <a:pt x="51870" y="0"/>
                  </a:moveTo>
                  <a:lnTo>
                    <a:pt x="1952955" y="0"/>
                  </a:lnTo>
                  <a:cubicBezTo>
                    <a:pt x="1966712" y="0"/>
                    <a:pt x="1979905" y="5465"/>
                    <a:pt x="1989633" y="15192"/>
                  </a:cubicBezTo>
                  <a:cubicBezTo>
                    <a:pt x="1999360" y="24920"/>
                    <a:pt x="2004825" y="38113"/>
                    <a:pt x="2004825" y="51870"/>
                  </a:cubicBezTo>
                  <a:lnTo>
                    <a:pt x="2004825" y="919070"/>
                  </a:lnTo>
                  <a:cubicBezTo>
                    <a:pt x="2004825" y="932826"/>
                    <a:pt x="1999360" y="946020"/>
                    <a:pt x="1989633" y="955747"/>
                  </a:cubicBezTo>
                  <a:cubicBezTo>
                    <a:pt x="1979905" y="965475"/>
                    <a:pt x="1966712" y="970940"/>
                    <a:pt x="1952955" y="970940"/>
                  </a:cubicBezTo>
                  <a:lnTo>
                    <a:pt x="51870" y="970940"/>
                  </a:lnTo>
                  <a:cubicBezTo>
                    <a:pt x="38113" y="970940"/>
                    <a:pt x="24920" y="965475"/>
                    <a:pt x="15192" y="955747"/>
                  </a:cubicBezTo>
                  <a:cubicBezTo>
                    <a:pt x="5465" y="946020"/>
                    <a:pt x="0" y="932826"/>
                    <a:pt x="0" y="919070"/>
                  </a:cubicBezTo>
                  <a:lnTo>
                    <a:pt x="0" y="51870"/>
                  </a:lnTo>
                  <a:cubicBezTo>
                    <a:pt x="0" y="38113"/>
                    <a:pt x="5465" y="24920"/>
                    <a:pt x="15192" y="15192"/>
                  </a:cubicBezTo>
                  <a:cubicBezTo>
                    <a:pt x="24920" y="5465"/>
                    <a:pt x="38113" y="0"/>
                    <a:pt x="5187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1" id="11"/>
            <p:cNvSpPr txBox="true"/>
            <p:nvPr/>
          </p:nvSpPr>
          <p:spPr>
            <a:xfrm>
              <a:off x="0" y="-66675"/>
              <a:ext cx="2004825" cy="1037615"/>
            </a:xfrm>
            <a:prstGeom prst="rect">
              <a:avLst/>
            </a:prstGeom>
          </p:spPr>
          <p:txBody>
            <a:bodyPr anchor="ctr" rtlCol="false" tIns="50800" lIns="50800" bIns="50800" rIns="50800"/>
            <a:lstStyle/>
            <a:p>
              <a:pPr algn="ctr">
                <a:lnSpc>
                  <a:spcPts val="3638"/>
                </a:lnSpc>
              </a:pPr>
            </a:p>
          </p:txBody>
        </p:sp>
      </p:grpSp>
      <p:grpSp>
        <p:nvGrpSpPr>
          <p:cNvPr name="Group 12" id="12"/>
          <p:cNvGrpSpPr/>
          <p:nvPr/>
        </p:nvGrpSpPr>
        <p:grpSpPr>
          <a:xfrm rot="0">
            <a:off x="9337342" y="2018423"/>
            <a:ext cx="7612070" cy="3686536"/>
            <a:chOff x="0" y="0"/>
            <a:chExt cx="2004825" cy="970940"/>
          </a:xfrm>
        </p:grpSpPr>
        <p:sp>
          <p:nvSpPr>
            <p:cNvPr name="Freeform 13" id="13"/>
            <p:cNvSpPr/>
            <p:nvPr/>
          </p:nvSpPr>
          <p:spPr>
            <a:xfrm flipH="false" flipV="false" rot="0">
              <a:off x="0" y="0"/>
              <a:ext cx="2004825" cy="970940"/>
            </a:xfrm>
            <a:custGeom>
              <a:avLst/>
              <a:gdLst/>
              <a:ahLst/>
              <a:cxnLst/>
              <a:rect r="r" b="b" t="t" l="l"/>
              <a:pathLst>
                <a:path h="970940" w="2004825">
                  <a:moveTo>
                    <a:pt x="51870" y="0"/>
                  </a:moveTo>
                  <a:lnTo>
                    <a:pt x="1952955" y="0"/>
                  </a:lnTo>
                  <a:cubicBezTo>
                    <a:pt x="1966712" y="0"/>
                    <a:pt x="1979905" y="5465"/>
                    <a:pt x="1989633" y="15192"/>
                  </a:cubicBezTo>
                  <a:cubicBezTo>
                    <a:pt x="1999360" y="24920"/>
                    <a:pt x="2004825" y="38113"/>
                    <a:pt x="2004825" y="51870"/>
                  </a:cubicBezTo>
                  <a:lnTo>
                    <a:pt x="2004825" y="919070"/>
                  </a:lnTo>
                  <a:cubicBezTo>
                    <a:pt x="2004825" y="932826"/>
                    <a:pt x="1999360" y="946020"/>
                    <a:pt x="1989633" y="955747"/>
                  </a:cubicBezTo>
                  <a:cubicBezTo>
                    <a:pt x="1979905" y="965475"/>
                    <a:pt x="1966712" y="970940"/>
                    <a:pt x="1952955" y="970940"/>
                  </a:cubicBezTo>
                  <a:lnTo>
                    <a:pt x="51870" y="970940"/>
                  </a:lnTo>
                  <a:cubicBezTo>
                    <a:pt x="38113" y="970940"/>
                    <a:pt x="24920" y="965475"/>
                    <a:pt x="15192" y="955747"/>
                  </a:cubicBezTo>
                  <a:cubicBezTo>
                    <a:pt x="5465" y="946020"/>
                    <a:pt x="0" y="932826"/>
                    <a:pt x="0" y="919070"/>
                  </a:cubicBezTo>
                  <a:lnTo>
                    <a:pt x="0" y="51870"/>
                  </a:lnTo>
                  <a:cubicBezTo>
                    <a:pt x="0" y="38113"/>
                    <a:pt x="5465" y="24920"/>
                    <a:pt x="15192" y="15192"/>
                  </a:cubicBezTo>
                  <a:cubicBezTo>
                    <a:pt x="24920" y="5465"/>
                    <a:pt x="38113" y="0"/>
                    <a:pt x="51870"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4" id="14"/>
            <p:cNvSpPr txBox="true"/>
            <p:nvPr/>
          </p:nvSpPr>
          <p:spPr>
            <a:xfrm>
              <a:off x="0" y="-66675"/>
              <a:ext cx="2004825" cy="1037615"/>
            </a:xfrm>
            <a:prstGeom prst="rect">
              <a:avLst/>
            </a:prstGeom>
          </p:spPr>
          <p:txBody>
            <a:bodyPr anchor="ctr" rtlCol="false" tIns="50800" lIns="50800" bIns="50800" rIns="50800"/>
            <a:lstStyle/>
            <a:p>
              <a:pPr algn="ctr">
                <a:lnSpc>
                  <a:spcPts val="3638"/>
                </a:lnSpc>
              </a:pPr>
            </a:p>
          </p:txBody>
        </p:sp>
      </p:grpSp>
      <p:grpSp>
        <p:nvGrpSpPr>
          <p:cNvPr name="Group 15" id="15"/>
          <p:cNvGrpSpPr/>
          <p:nvPr/>
        </p:nvGrpSpPr>
        <p:grpSpPr>
          <a:xfrm rot="0">
            <a:off x="7788873" y="2195578"/>
            <a:ext cx="855445" cy="85544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82B2"/>
            </a:solidFill>
          </p:spPr>
        </p:sp>
        <p:sp>
          <p:nvSpPr>
            <p:cNvPr name="TextBox 17" id="17"/>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18" id="18"/>
          <p:cNvGrpSpPr/>
          <p:nvPr/>
        </p:nvGrpSpPr>
        <p:grpSpPr>
          <a:xfrm rot="0">
            <a:off x="15800062" y="2195578"/>
            <a:ext cx="855445" cy="85544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82B2"/>
            </a:solidFill>
          </p:spPr>
        </p:sp>
        <p:sp>
          <p:nvSpPr>
            <p:cNvPr name="TextBox 20" id="20"/>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sp>
        <p:nvSpPr>
          <p:cNvPr name="Freeform 21" id="21"/>
          <p:cNvSpPr/>
          <p:nvPr/>
        </p:nvSpPr>
        <p:spPr>
          <a:xfrm flipH="false" flipV="false" rot="0">
            <a:off x="7314643" y="2316503"/>
            <a:ext cx="948460" cy="948460"/>
          </a:xfrm>
          <a:custGeom>
            <a:avLst/>
            <a:gdLst/>
            <a:ahLst/>
            <a:cxnLst/>
            <a:rect r="r" b="b" t="t" l="l"/>
            <a:pathLst>
              <a:path h="948460" w="948460">
                <a:moveTo>
                  <a:pt x="0" y="0"/>
                </a:moveTo>
                <a:lnTo>
                  <a:pt x="948460" y="0"/>
                </a:lnTo>
                <a:lnTo>
                  <a:pt x="948460" y="948460"/>
                </a:lnTo>
                <a:lnTo>
                  <a:pt x="0" y="9484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5038215" y="2322472"/>
            <a:ext cx="1351764" cy="942491"/>
          </a:xfrm>
          <a:custGeom>
            <a:avLst/>
            <a:gdLst/>
            <a:ahLst/>
            <a:cxnLst/>
            <a:rect r="r" b="b" t="t" l="l"/>
            <a:pathLst>
              <a:path h="942491" w="1351764">
                <a:moveTo>
                  <a:pt x="0" y="0"/>
                </a:moveTo>
                <a:lnTo>
                  <a:pt x="1351764" y="0"/>
                </a:lnTo>
                <a:lnTo>
                  <a:pt x="1351764" y="942491"/>
                </a:lnTo>
                <a:lnTo>
                  <a:pt x="0" y="9424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3" id="23"/>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FalconVQA</a:t>
            </a:r>
          </a:p>
        </p:txBody>
      </p:sp>
      <p:sp>
        <p:nvSpPr>
          <p:cNvPr name="TextBox 24" id="24"/>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Semantic Video Retrieval</a:t>
            </a:r>
          </a:p>
        </p:txBody>
      </p:sp>
      <p:sp>
        <p:nvSpPr>
          <p:cNvPr name="TextBox 25" id="25"/>
          <p:cNvSpPr txBox="true"/>
          <p:nvPr/>
        </p:nvSpPr>
        <p:spPr>
          <a:xfrm rot="0">
            <a:off x="1230888" y="6565899"/>
            <a:ext cx="11239246" cy="2692401"/>
          </a:xfrm>
          <a:prstGeom prst="rect">
            <a:avLst/>
          </a:prstGeom>
        </p:spPr>
        <p:txBody>
          <a:bodyPr anchor="t" rtlCol="false" tIns="0" lIns="0" bIns="0" rIns="0">
            <a:spAutoFit/>
          </a:bodyPr>
          <a:lstStyle/>
          <a:p>
            <a:pPr algn="l" marL="0" indent="0" lvl="0">
              <a:lnSpc>
                <a:spcPts val="10000"/>
              </a:lnSpc>
              <a:spcBef>
                <a:spcPct val="0"/>
              </a:spcBef>
            </a:pPr>
            <a:r>
              <a:rPr lang="en-US" sz="12500" spc="-1000">
                <a:solidFill>
                  <a:srgbClr val="F9F9F9"/>
                </a:solidFill>
                <a:latin typeface="Cy Grotesk V3 Key"/>
                <a:ea typeface="Cy Grotesk V3 Key"/>
                <a:cs typeface="Cy Grotesk V3 Key"/>
                <a:sym typeface="Cy Grotesk V3 Key"/>
              </a:rPr>
              <a:t>System Design and Flow</a:t>
            </a:r>
          </a:p>
        </p:txBody>
      </p:sp>
      <p:sp>
        <p:nvSpPr>
          <p:cNvPr name="TextBox 26" id="26"/>
          <p:cNvSpPr txBox="true"/>
          <p:nvPr/>
        </p:nvSpPr>
        <p:spPr>
          <a:xfrm rot="0">
            <a:off x="12950418" y="6659778"/>
            <a:ext cx="4013308" cy="23317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A three-tier system. The client owns the operator interface and multi-tenancy; the analysis service owns the pipeline and has no notion of users; persistence is divided across four stores joined by a single content hash.</a:t>
            </a:r>
          </a:p>
        </p:txBody>
      </p:sp>
      <p:sp>
        <p:nvSpPr>
          <p:cNvPr name="TextBox 27" id="27"/>
          <p:cNvSpPr txBox="true"/>
          <p:nvPr/>
        </p:nvSpPr>
        <p:spPr>
          <a:xfrm rot="0">
            <a:off x="1803275" y="3890582"/>
            <a:ext cx="6767822" cy="143014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The service accepts a file or a link, returns a job identifier immediately, and proceeds on a background thread through fetching, chunking, analyzing, indexing and aggregating. The client polls the job and reconciles it into the recording's row.</a:t>
            </a:r>
          </a:p>
        </p:txBody>
      </p:sp>
      <p:sp>
        <p:nvSpPr>
          <p:cNvPr name="TextBox 28" id="28"/>
          <p:cNvSpPr txBox="true"/>
          <p:nvPr/>
        </p:nvSpPr>
        <p:spPr>
          <a:xfrm rot="0">
            <a:off x="9802029" y="3890582"/>
            <a:ext cx="6767822" cy="143014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A description is embedded, matched against the chosen vector space under typed filters, and returned as ranked chunks with timecodes. A question is instead routed to the aggregates capable of answering it and synthesised with citations.</a:t>
            </a:r>
          </a:p>
        </p:txBody>
      </p:sp>
      <p:sp>
        <p:nvSpPr>
          <p:cNvPr name="TextBox 29" id="29"/>
          <p:cNvSpPr txBox="true"/>
          <p:nvPr/>
        </p:nvSpPr>
        <p:spPr>
          <a:xfrm rot="0">
            <a:off x="1803275" y="3111790"/>
            <a:ext cx="3691110" cy="508890"/>
          </a:xfrm>
          <a:prstGeom prst="rect">
            <a:avLst/>
          </a:prstGeom>
        </p:spPr>
        <p:txBody>
          <a:bodyPr anchor="t" rtlCol="false" tIns="0" lIns="0" bIns="0" rIns="0">
            <a:spAutoFit/>
          </a:bodyPr>
          <a:lstStyle/>
          <a:p>
            <a:pPr algn="l">
              <a:lnSpc>
                <a:spcPts val="4227"/>
              </a:lnSpc>
            </a:pPr>
            <a:r>
              <a:rPr lang="en-US" sz="2600" b="true">
                <a:solidFill>
                  <a:srgbClr val="FFFFFF"/>
                </a:solidFill>
                <a:latin typeface="HK Grotesk Bold"/>
                <a:ea typeface="HK Grotesk Bold"/>
                <a:cs typeface="HK Grotesk Bold"/>
                <a:sym typeface="HK Grotesk Bold"/>
              </a:rPr>
              <a:t>Ingestion Path</a:t>
            </a:r>
          </a:p>
        </p:txBody>
      </p:sp>
      <p:sp>
        <p:nvSpPr>
          <p:cNvPr name="TextBox 30" id="30"/>
          <p:cNvSpPr txBox="true"/>
          <p:nvPr/>
        </p:nvSpPr>
        <p:spPr>
          <a:xfrm rot="0">
            <a:off x="9802029" y="3111790"/>
            <a:ext cx="3691110" cy="508890"/>
          </a:xfrm>
          <a:prstGeom prst="rect">
            <a:avLst/>
          </a:prstGeom>
        </p:spPr>
        <p:txBody>
          <a:bodyPr anchor="t" rtlCol="false" tIns="0" lIns="0" bIns="0" rIns="0">
            <a:spAutoFit/>
          </a:bodyPr>
          <a:lstStyle/>
          <a:p>
            <a:pPr algn="l">
              <a:lnSpc>
                <a:spcPts val="4227"/>
              </a:lnSpc>
            </a:pPr>
            <a:r>
              <a:rPr lang="en-US" sz="2600" b="true">
                <a:solidFill>
                  <a:srgbClr val="FFFFFF"/>
                </a:solidFill>
                <a:latin typeface="HK Grotesk Bold"/>
                <a:ea typeface="HK Grotesk Bold"/>
                <a:cs typeface="HK Grotesk Bold"/>
                <a:sym typeface="HK Grotesk Bold"/>
              </a:rPr>
              <a:t>Query Path</a:t>
            </a:r>
          </a:p>
        </p:txBody>
      </p:sp>
      <p:grpSp>
        <p:nvGrpSpPr>
          <p:cNvPr name="Group 31" id="31"/>
          <p:cNvGrpSpPr/>
          <p:nvPr/>
        </p:nvGrpSpPr>
        <p:grpSpPr>
          <a:xfrm rot="0">
            <a:off x="2017357" y="2428269"/>
            <a:ext cx="195032" cy="195032"/>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3" id="33"/>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34" id="34"/>
          <p:cNvGrpSpPr/>
          <p:nvPr/>
        </p:nvGrpSpPr>
        <p:grpSpPr>
          <a:xfrm rot="0">
            <a:off x="10016111" y="2428269"/>
            <a:ext cx="195032" cy="195032"/>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6" id="36"/>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37" id="37"/>
          <p:cNvGrpSpPr/>
          <p:nvPr/>
        </p:nvGrpSpPr>
        <p:grpSpPr>
          <a:xfrm rot="0">
            <a:off x="1803275" y="2428269"/>
            <a:ext cx="195032" cy="195032"/>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9" id="39"/>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40" id="40"/>
          <p:cNvGrpSpPr/>
          <p:nvPr/>
        </p:nvGrpSpPr>
        <p:grpSpPr>
          <a:xfrm rot="0">
            <a:off x="9802029" y="2428269"/>
            <a:ext cx="195032" cy="195032"/>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2" id="42"/>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028700" y="2050752"/>
            <a:ext cx="6349375" cy="3518460"/>
            <a:chOff x="0" y="0"/>
            <a:chExt cx="1672263" cy="926673"/>
          </a:xfrm>
        </p:grpSpPr>
        <p:sp>
          <p:nvSpPr>
            <p:cNvPr name="Freeform 10" id="10"/>
            <p:cNvSpPr/>
            <p:nvPr/>
          </p:nvSpPr>
          <p:spPr>
            <a:xfrm flipH="false" flipV="false" rot="0">
              <a:off x="0" y="0"/>
              <a:ext cx="1672263" cy="926673"/>
            </a:xfrm>
            <a:custGeom>
              <a:avLst/>
              <a:gdLst/>
              <a:ahLst/>
              <a:cxnLst/>
              <a:rect r="r" b="b" t="t" l="l"/>
              <a:pathLst>
                <a:path h="926673" w="1672263">
                  <a:moveTo>
                    <a:pt x="62185" y="0"/>
                  </a:moveTo>
                  <a:lnTo>
                    <a:pt x="1610078" y="0"/>
                  </a:lnTo>
                  <a:cubicBezTo>
                    <a:pt x="1626571" y="0"/>
                    <a:pt x="1642388" y="6552"/>
                    <a:pt x="1654050" y="18214"/>
                  </a:cubicBezTo>
                  <a:cubicBezTo>
                    <a:pt x="1665712" y="29876"/>
                    <a:pt x="1672263" y="45693"/>
                    <a:pt x="1672263" y="62185"/>
                  </a:cubicBezTo>
                  <a:lnTo>
                    <a:pt x="1672263" y="864487"/>
                  </a:lnTo>
                  <a:cubicBezTo>
                    <a:pt x="1672263" y="898831"/>
                    <a:pt x="1644422" y="926673"/>
                    <a:pt x="1610078" y="926673"/>
                  </a:cubicBezTo>
                  <a:lnTo>
                    <a:pt x="62185" y="926673"/>
                  </a:lnTo>
                  <a:cubicBezTo>
                    <a:pt x="45693" y="926673"/>
                    <a:pt x="29876" y="920121"/>
                    <a:pt x="18214" y="908459"/>
                  </a:cubicBezTo>
                  <a:cubicBezTo>
                    <a:pt x="6552" y="896797"/>
                    <a:pt x="0" y="880980"/>
                    <a:pt x="0" y="864487"/>
                  </a:cubicBezTo>
                  <a:lnTo>
                    <a:pt x="0" y="62185"/>
                  </a:lnTo>
                  <a:cubicBezTo>
                    <a:pt x="0" y="45693"/>
                    <a:pt x="6552" y="29876"/>
                    <a:pt x="18214" y="18214"/>
                  </a:cubicBezTo>
                  <a:cubicBezTo>
                    <a:pt x="29876" y="6552"/>
                    <a:pt x="45693" y="0"/>
                    <a:pt x="62185"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1" id="11"/>
            <p:cNvSpPr txBox="true"/>
            <p:nvPr/>
          </p:nvSpPr>
          <p:spPr>
            <a:xfrm>
              <a:off x="0" y="-66675"/>
              <a:ext cx="1672263" cy="993348"/>
            </a:xfrm>
            <a:prstGeom prst="rect">
              <a:avLst/>
            </a:prstGeom>
          </p:spPr>
          <p:txBody>
            <a:bodyPr anchor="ctr" rtlCol="false" tIns="50800" lIns="50800" bIns="50800" rIns="50800"/>
            <a:lstStyle/>
            <a:p>
              <a:pPr algn="ctr">
                <a:lnSpc>
                  <a:spcPts val="3638"/>
                </a:lnSpc>
              </a:pPr>
            </a:p>
          </p:txBody>
        </p:sp>
      </p:grpSp>
      <p:grpSp>
        <p:nvGrpSpPr>
          <p:cNvPr name="Group 12" id="12"/>
          <p:cNvGrpSpPr/>
          <p:nvPr/>
        </p:nvGrpSpPr>
        <p:grpSpPr>
          <a:xfrm rot="0">
            <a:off x="1028700" y="5893062"/>
            <a:ext cx="6349375" cy="3518460"/>
            <a:chOff x="0" y="0"/>
            <a:chExt cx="1672263" cy="926673"/>
          </a:xfrm>
        </p:grpSpPr>
        <p:sp>
          <p:nvSpPr>
            <p:cNvPr name="Freeform 13" id="13"/>
            <p:cNvSpPr/>
            <p:nvPr/>
          </p:nvSpPr>
          <p:spPr>
            <a:xfrm flipH="false" flipV="false" rot="0">
              <a:off x="0" y="0"/>
              <a:ext cx="1672263" cy="926673"/>
            </a:xfrm>
            <a:custGeom>
              <a:avLst/>
              <a:gdLst/>
              <a:ahLst/>
              <a:cxnLst/>
              <a:rect r="r" b="b" t="t" l="l"/>
              <a:pathLst>
                <a:path h="926673" w="1672263">
                  <a:moveTo>
                    <a:pt x="62185" y="0"/>
                  </a:moveTo>
                  <a:lnTo>
                    <a:pt x="1610078" y="0"/>
                  </a:lnTo>
                  <a:cubicBezTo>
                    <a:pt x="1626571" y="0"/>
                    <a:pt x="1642388" y="6552"/>
                    <a:pt x="1654050" y="18214"/>
                  </a:cubicBezTo>
                  <a:cubicBezTo>
                    <a:pt x="1665712" y="29876"/>
                    <a:pt x="1672263" y="45693"/>
                    <a:pt x="1672263" y="62185"/>
                  </a:cubicBezTo>
                  <a:lnTo>
                    <a:pt x="1672263" y="864487"/>
                  </a:lnTo>
                  <a:cubicBezTo>
                    <a:pt x="1672263" y="898831"/>
                    <a:pt x="1644422" y="926673"/>
                    <a:pt x="1610078" y="926673"/>
                  </a:cubicBezTo>
                  <a:lnTo>
                    <a:pt x="62185" y="926673"/>
                  </a:lnTo>
                  <a:cubicBezTo>
                    <a:pt x="45693" y="926673"/>
                    <a:pt x="29876" y="920121"/>
                    <a:pt x="18214" y="908459"/>
                  </a:cubicBezTo>
                  <a:cubicBezTo>
                    <a:pt x="6552" y="896797"/>
                    <a:pt x="0" y="880980"/>
                    <a:pt x="0" y="864487"/>
                  </a:cubicBezTo>
                  <a:lnTo>
                    <a:pt x="0" y="62185"/>
                  </a:lnTo>
                  <a:cubicBezTo>
                    <a:pt x="0" y="45693"/>
                    <a:pt x="6552" y="29876"/>
                    <a:pt x="18214" y="18214"/>
                  </a:cubicBezTo>
                  <a:cubicBezTo>
                    <a:pt x="29876" y="6552"/>
                    <a:pt x="45693" y="0"/>
                    <a:pt x="62185"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4" id="14"/>
            <p:cNvSpPr txBox="true"/>
            <p:nvPr/>
          </p:nvSpPr>
          <p:spPr>
            <a:xfrm>
              <a:off x="0" y="-66675"/>
              <a:ext cx="1672263" cy="993348"/>
            </a:xfrm>
            <a:prstGeom prst="rect">
              <a:avLst/>
            </a:prstGeom>
          </p:spPr>
          <p:txBody>
            <a:bodyPr anchor="ctr" rtlCol="false" tIns="50800" lIns="50800" bIns="50800" rIns="50800"/>
            <a:lstStyle/>
            <a:p>
              <a:pPr algn="ctr">
                <a:lnSpc>
                  <a:spcPts val="3638"/>
                </a:lnSpc>
              </a:pPr>
            </a:p>
          </p:txBody>
        </p:sp>
      </p:grpSp>
      <p:grpSp>
        <p:nvGrpSpPr>
          <p:cNvPr name="Group 15" id="15"/>
          <p:cNvGrpSpPr/>
          <p:nvPr/>
        </p:nvGrpSpPr>
        <p:grpSpPr>
          <a:xfrm rot="0">
            <a:off x="8145684" y="7159928"/>
            <a:ext cx="9113616" cy="2251595"/>
            <a:chOff x="0" y="0"/>
            <a:chExt cx="1777997" cy="439269"/>
          </a:xfrm>
        </p:grpSpPr>
        <p:sp>
          <p:nvSpPr>
            <p:cNvPr name="Freeform 16" id="16"/>
            <p:cNvSpPr/>
            <p:nvPr/>
          </p:nvSpPr>
          <p:spPr>
            <a:xfrm flipH="false" flipV="false" rot="0">
              <a:off x="0" y="0"/>
              <a:ext cx="1777997" cy="439269"/>
            </a:xfrm>
            <a:custGeom>
              <a:avLst/>
              <a:gdLst/>
              <a:ahLst/>
              <a:cxnLst/>
              <a:rect r="r" b="b" t="t" l="l"/>
              <a:pathLst>
                <a:path h="439269" w="1777997">
                  <a:moveTo>
                    <a:pt x="37378" y="0"/>
                  </a:moveTo>
                  <a:lnTo>
                    <a:pt x="1740620" y="0"/>
                  </a:lnTo>
                  <a:cubicBezTo>
                    <a:pt x="1750533" y="0"/>
                    <a:pt x="1760040" y="3938"/>
                    <a:pt x="1767050" y="10948"/>
                  </a:cubicBezTo>
                  <a:cubicBezTo>
                    <a:pt x="1774060" y="17957"/>
                    <a:pt x="1777997" y="27464"/>
                    <a:pt x="1777997" y="37378"/>
                  </a:cubicBezTo>
                  <a:lnTo>
                    <a:pt x="1777997" y="401892"/>
                  </a:lnTo>
                  <a:cubicBezTo>
                    <a:pt x="1777997" y="422535"/>
                    <a:pt x="1761263" y="439269"/>
                    <a:pt x="1740620" y="439269"/>
                  </a:cubicBezTo>
                  <a:lnTo>
                    <a:pt x="37378" y="439269"/>
                  </a:lnTo>
                  <a:cubicBezTo>
                    <a:pt x="16734" y="439269"/>
                    <a:pt x="0" y="422535"/>
                    <a:pt x="0" y="401892"/>
                  </a:cubicBezTo>
                  <a:lnTo>
                    <a:pt x="0" y="37378"/>
                  </a:lnTo>
                  <a:cubicBezTo>
                    <a:pt x="0" y="16734"/>
                    <a:pt x="16734" y="0"/>
                    <a:pt x="37378" y="0"/>
                  </a:cubicBezTo>
                  <a:close/>
                </a:path>
              </a:pathLst>
            </a:custGeom>
            <a:blipFill>
              <a:blip r:embed="rId6"/>
              <a:stretch>
                <a:fillRect l="0" t="-60689" r="0" b="-108477"/>
              </a:stretch>
            </a:blipFill>
            <a:ln w="19050" cap="rnd">
              <a:gradFill>
                <a:gsLst>
                  <a:gs pos="0">
                    <a:srgbClr val="FFC4E1">
                      <a:alpha val="0"/>
                    </a:srgbClr>
                  </a:gs>
                  <a:gs pos="25000">
                    <a:srgbClr val="FFC4E1">
                      <a:alpha val="59500"/>
                    </a:srgbClr>
                  </a:gs>
                  <a:gs pos="50000">
                    <a:srgbClr val="FFDAEC">
                      <a:alpha val="100000"/>
                    </a:srgbClr>
                  </a:gs>
                  <a:gs pos="75000">
                    <a:srgbClr val="FFC4E1">
                      <a:alpha val="60000"/>
                    </a:srgbClr>
                  </a:gs>
                  <a:gs pos="100000">
                    <a:srgbClr val="FFC4E1">
                      <a:alpha val="0"/>
                    </a:srgbClr>
                  </a:gs>
                </a:gsLst>
                <a:lin ang="2700000"/>
              </a:gradFill>
              <a:prstDash val="solid"/>
              <a:round/>
            </a:ln>
          </p:spPr>
        </p:sp>
      </p:grpSp>
      <p:grpSp>
        <p:nvGrpSpPr>
          <p:cNvPr name="Group 17" id="17"/>
          <p:cNvGrpSpPr/>
          <p:nvPr/>
        </p:nvGrpSpPr>
        <p:grpSpPr>
          <a:xfrm rot="0">
            <a:off x="6715827" y="2428269"/>
            <a:ext cx="195032" cy="19503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9" id="19"/>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20" id="20"/>
          <p:cNvGrpSpPr/>
          <p:nvPr/>
        </p:nvGrpSpPr>
        <p:grpSpPr>
          <a:xfrm rot="0">
            <a:off x="6715827" y="6270579"/>
            <a:ext cx="195032" cy="195032"/>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2" id="22"/>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23" id="23"/>
          <p:cNvGrpSpPr/>
          <p:nvPr/>
        </p:nvGrpSpPr>
        <p:grpSpPr>
          <a:xfrm rot="0">
            <a:off x="6501746" y="2428269"/>
            <a:ext cx="195032" cy="195032"/>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5" id="25"/>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grpSp>
        <p:nvGrpSpPr>
          <p:cNvPr name="Group 26" id="26"/>
          <p:cNvGrpSpPr/>
          <p:nvPr/>
        </p:nvGrpSpPr>
        <p:grpSpPr>
          <a:xfrm rot="0">
            <a:off x="6501746" y="6270579"/>
            <a:ext cx="195032" cy="195032"/>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8" id="28"/>
            <p:cNvSpPr txBox="true"/>
            <p:nvPr/>
          </p:nvSpPr>
          <p:spPr>
            <a:xfrm>
              <a:off x="76200" y="-9525"/>
              <a:ext cx="660400" cy="746125"/>
            </a:xfrm>
            <a:prstGeom prst="rect">
              <a:avLst/>
            </a:prstGeom>
          </p:spPr>
          <p:txBody>
            <a:bodyPr anchor="ctr" rtlCol="false" tIns="50800" lIns="50800" bIns="50800" rIns="50800"/>
            <a:lstStyle/>
            <a:p>
              <a:pPr algn="ctr">
                <a:lnSpc>
                  <a:spcPts val="3925"/>
                </a:lnSpc>
              </a:pPr>
            </a:p>
          </p:txBody>
        </p:sp>
      </p:grpSp>
      <p:sp>
        <p:nvSpPr>
          <p:cNvPr name="TextBox 29" id="2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FalconVQA</a:t>
            </a:r>
          </a:p>
        </p:txBody>
      </p:sp>
      <p:sp>
        <p:nvSpPr>
          <p:cNvPr name="TextBox 30" id="3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Semantic Video Retrieval</a:t>
            </a:r>
          </a:p>
        </p:txBody>
      </p:sp>
      <p:sp>
        <p:nvSpPr>
          <p:cNvPr name="TextBox 31" id="31"/>
          <p:cNvSpPr txBox="true"/>
          <p:nvPr/>
        </p:nvSpPr>
        <p:spPr>
          <a:xfrm rot="0">
            <a:off x="8145684" y="2262384"/>
            <a:ext cx="9991307" cy="2692401"/>
          </a:xfrm>
          <a:prstGeom prst="rect">
            <a:avLst/>
          </a:prstGeom>
        </p:spPr>
        <p:txBody>
          <a:bodyPr anchor="t" rtlCol="false" tIns="0" lIns="0" bIns="0" rIns="0">
            <a:spAutoFit/>
          </a:bodyPr>
          <a:lstStyle/>
          <a:p>
            <a:pPr algn="l" marL="0" indent="0" lvl="0">
              <a:lnSpc>
                <a:spcPts val="10000"/>
              </a:lnSpc>
              <a:spcBef>
                <a:spcPct val="0"/>
              </a:spcBef>
            </a:pPr>
            <a:r>
              <a:rPr lang="en-US" sz="12500" spc="-1000">
                <a:solidFill>
                  <a:srgbClr val="F9F9F9"/>
                </a:solidFill>
                <a:latin typeface="Cy Grotesk V3 Key"/>
                <a:ea typeface="Cy Grotesk V3 Key"/>
                <a:cs typeface="Cy Grotesk V3 Key"/>
                <a:sym typeface="Cy Grotesk V3 Key"/>
              </a:rPr>
              <a:t>Indexing and Retrieval</a:t>
            </a:r>
          </a:p>
        </p:txBody>
      </p:sp>
      <p:sp>
        <p:nvSpPr>
          <p:cNvPr name="TextBox 32" id="32"/>
          <p:cNvSpPr txBox="true"/>
          <p:nvPr/>
        </p:nvSpPr>
        <p:spPr>
          <a:xfrm rot="0">
            <a:off x="8334325" y="5297685"/>
            <a:ext cx="8498581" cy="1331595"/>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A question is not answered by searching chunks and hoping. Each aggregate carries a short hint describing what it answers; the hints are embedded and compared with the question, and those standing a standard deviation above the mean supply the context the answer is synthesised from, with mandatory citations.</a:t>
            </a:r>
          </a:p>
        </p:txBody>
      </p:sp>
      <p:sp>
        <p:nvSpPr>
          <p:cNvPr name="TextBox 33" id="33"/>
          <p:cNvSpPr txBox="true"/>
          <p:nvPr/>
        </p:nvSpPr>
        <p:spPr>
          <a:xfrm rot="0">
            <a:off x="1376487" y="3260468"/>
            <a:ext cx="5534372"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Each chunk is one Qdrant point carrying five separately embedded vectors: the full record, the scene description, the people, the actions and the objects. Embedding is local, with BGE-small, and a typed payload backs twelve filters.</a:t>
            </a:r>
          </a:p>
        </p:txBody>
      </p:sp>
      <p:sp>
        <p:nvSpPr>
          <p:cNvPr name="TextBox 34" id="34"/>
          <p:cNvSpPr txBox="true"/>
          <p:nvPr/>
        </p:nvSpPr>
        <p:spPr>
          <a:xfrm rot="0">
            <a:off x="1376487" y="7102778"/>
            <a:ext cx="5534372"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Video-level passes run over the saved records rather than the video, ordered by declared dependencies: statistics, novelty, summary, chapters, events, entities, timelines and co-occurrence. Re-running one costs no re-analysis.</a:t>
            </a:r>
          </a:p>
        </p:txBody>
      </p:sp>
      <p:sp>
        <p:nvSpPr>
          <p:cNvPr name="TextBox 35" id="35"/>
          <p:cNvSpPr txBox="true"/>
          <p:nvPr/>
        </p:nvSpPr>
        <p:spPr>
          <a:xfrm rot="0">
            <a:off x="1376487" y="2481675"/>
            <a:ext cx="3691110" cy="508890"/>
          </a:xfrm>
          <a:prstGeom prst="rect">
            <a:avLst/>
          </a:prstGeom>
        </p:spPr>
        <p:txBody>
          <a:bodyPr anchor="t" rtlCol="false" tIns="0" lIns="0" bIns="0" rIns="0">
            <a:spAutoFit/>
          </a:bodyPr>
          <a:lstStyle/>
          <a:p>
            <a:pPr algn="l">
              <a:lnSpc>
                <a:spcPts val="4227"/>
              </a:lnSpc>
            </a:pPr>
            <a:r>
              <a:rPr lang="en-US" sz="2600" b="true">
                <a:solidFill>
                  <a:srgbClr val="FFFFFF"/>
                </a:solidFill>
                <a:latin typeface="HK Grotesk Bold"/>
                <a:ea typeface="HK Grotesk Bold"/>
                <a:cs typeface="HK Grotesk Bold"/>
                <a:sym typeface="HK Grotesk Bold"/>
              </a:rPr>
              <a:t>Five Named Vectors</a:t>
            </a:r>
          </a:p>
        </p:txBody>
      </p:sp>
      <p:sp>
        <p:nvSpPr>
          <p:cNvPr name="TextBox 36" id="36"/>
          <p:cNvSpPr txBox="true"/>
          <p:nvPr/>
        </p:nvSpPr>
        <p:spPr>
          <a:xfrm rot="0">
            <a:off x="1376487" y="6323985"/>
            <a:ext cx="3691110" cy="508890"/>
          </a:xfrm>
          <a:prstGeom prst="rect">
            <a:avLst/>
          </a:prstGeom>
        </p:spPr>
        <p:txBody>
          <a:bodyPr anchor="t" rtlCol="false" tIns="0" lIns="0" bIns="0" rIns="0">
            <a:spAutoFit/>
          </a:bodyPr>
          <a:lstStyle/>
          <a:p>
            <a:pPr algn="l">
              <a:lnSpc>
                <a:spcPts val="4227"/>
              </a:lnSpc>
            </a:pPr>
            <a:r>
              <a:rPr lang="en-US" sz="2600" b="true">
                <a:solidFill>
                  <a:srgbClr val="FFFFFF"/>
                </a:solidFill>
                <a:latin typeface="HK Grotesk Bold"/>
                <a:ea typeface="HK Grotesk Bold"/>
                <a:cs typeface="HK Grotesk Bold"/>
                <a:sym typeface="HK Grotesk Bold"/>
              </a:rPr>
              <a:t>Twelve Aggregators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FalconVQA</a:t>
            </a:r>
          </a:p>
        </p:txBody>
      </p:sp>
      <p:sp>
        <p:nvSpPr>
          <p:cNvPr name="TextBox 10" id="1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Semantic Video Retrieval</a:t>
            </a:r>
          </a:p>
        </p:txBody>
      </p:sp>
      <p:grpSp>
        <p:nvGrpSpPr>
          <p:cNvPr name="Group 11" id="11"/>
          <p:cNvGrpSpPr/>
          <p:nvPr/>
        </p:nvGrpSpPr>
        <p:grpSpPr>
          <a:xfrm rot="0">
            <a:off x="1182106" y="5390676"/>
            <a:ext cx="7680288" cy="3867624"/>
            <a:chOff x="0" y="0"/>
            <a:chExt cx="2022792" cy="1018634"/>
          </a:xfrm>
        </p:grpSpPr>
        <p:sp>
          <p:nvSpPr>
            <p:cNvPr name="Freeform 12" id="12"/>
            <p:cNvSpPr/>
            <p:nvPr/>
          </p:nvSpPr>
          <p:spPr>
            <a:xfrm flipH="false" flipV="false" rot="0">
              <a:off x="0" y="0"/>
              <a:ext cx="2022792" cy="1018634"/>
            </a:xfrm>
            <a:custGeom>
              <a:avLst/>
              <a:gdLst/>
              <a:ahLst/>
              <a:cxnLst/>
              <a:rect r="r" b="b" t="t" l="l"/>
              <a:pathLst>
                <a:path h="1018634" w="2022792">
                  <a:moveTo>
                    <a:pt x="51409" y="0"/>
                  </a:moveTo>
                  <a:lnTo>
                    <a:pt x="1971383" y="0"/>
                  </a:lnTo>
                  <a:cubicBezTo>
                    <a:pt x="1999775" y="0"/>
                    <a:pt x="2022792" y="23017"/>
                    <a:pt x="2022792" y="51409"/>
                  </a:cubicBezTo>
                  <a:lnTo>
                    <a:pt x="2022792" y="967224"/>
                  </a:lnTo>
                  <a:cubicBezTo>
                    <a:pt x="2022792" y="995617"/>
                    <a:pt x="1999775" y="1018634"/>
                    <a:pt x="1971383" y="1018634"/>
                  </a:cubicBezTo>
                  <a:lnTo>
                    <a:pt x="51409" y="1018634"/>
                  </a:lnTo>
                  <a:cubicBezTo>
                    <a:pt x="23017" y="1018634"/>
                    <a:pt x="0" y="995617"/>
                    <a:pt x="0" y="967224"/>
                  </a:cubicBezTo>
                  <a:lnTo>
                    <a:pt x="0" y="51409"/>
                  </a:lnTo>
                  <a:cubicBezTo>
                    <a:pt x="0" y="23017"/>
                    <a:pt x="23017" y="0"/>
                    <a:pt x="51409"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3" id="13"/>
            <p:cNvSpPr txBox="true"/>
            <p:nvPr/>
          </p:nvSpPr>
          <p:spPr>
            <a:xfrm>
              <a:off x="0" y="-66675"/>
              <a:ext cx="2022792" cy="1085309"/>
            </a:xfrm>
            <a:prstGeom prst="rect">
              <a:avLst/>
            </a:prstGeom>
          </p:spPr>
          <p:txBody>
            <a:bodyPr anchor="ctr" rtlCol="false" tIns="50800" lIns="50800" bIns="50800" rIns="50800"/>
            <a:lstStyle/>
            <a:p>
              <a:pPr algn="ctr">
                <a:lnSpc>
                  <a:spcPts val="3638"/>
                </a:lnSpc>
              </a:pPr>
            </a:p>
          </p:txBody>
        </p:sp>
      </p:grpSp>
      <p:grpSp>
        <p:nvGrpSpPr>
          <p:cNvPr name="Group 14" id="14"/>
          <p:cNvGrpSpPr/>
          <p:nvPr/>
        </p:nvGrpSpPr>
        <p:grpSpPr>
          <a:xfrm rot="0">
            <a:off x="9425606" y="5390676"/>
            <a:ext cx="7680288" cy="3867624"/>
            <a:chOff x="0" y="0"/>
            <a:chExt cx="2022792" cy="1018634"/>
          </a:xfrm>
        </p:grpSpPr>
        <p:sp>
          <p:nvSpPr>
            <p:cNvPr name="Freeform 15" id="15"/>
            <p:cNvSpPr/>
            <p:nvPr/>
          </p:nvSpPr>
          <p:spPr>
            <a:xfrm flipH="false" flipV="false" rot="0">
              <a:off x="0" y="0"/>
              <a:ext cx="2022792" cy="1018634"/>
            </a:xfrm>
            <a:custGeom>
              <a:avLst/>
              <a:gdLst/>
              <a:ahLst/>
              <a:cxnLst/>
              <a:rect r="r" b="b" t="t" l="l"/>
              <a:pathLst>
                <a:path h="1018634" w="2022792">
                  <a:moveTo>
                    <a:pt x="51409" y="0"/>
                  </a:moveTo>
                  <a:lnTo>
                    <a:pt x="1971383" y="0"/>
                  </a:lnTo>
                  <a:cubicBezTo>
                    <a:pt x="1999775" y="0"/>
                    <a:pt x="2022792" y="23017"/>
                    <a:pt x="2022792" y="51409"/>
                  </a:cubicBezTo>
                  <a:lnTo>
                    <a:pt x="2022792" y="967224"/>
                  </a:lnTo>
                  <a:cubicBezTo>
                    <a:pt x="2022792" y="995617"/>
                    <a:pt x="1999775" y="1018634"/>
                    <a:pt x="1971383" y="1018634"/>
                  </a:cubicBezTo>
                  <a:lnTo>
                    <a:pt x="51409" y="1018634"/>
                  </a:lnTo>
                  <a:cubicBezTo>
                    <a:pt x="23017" y="1018634"/>
                    <a:pt x="0" y="995617"/>
                    <a:pt x="0" y="967224"/>
                  </a:cubicBezTo>
                  <a:lnTo>
                    <a:pt x="0" y="51409"/>
                  </a:lnTo>
                  <a:cubicBezTo>
                    <a:pt x="0" y="23017"/>
                    <a:pt x="23017" y="0"/>
                    <a:pt x="51409"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6" id="16"/>
            <p:cNvSpPr txBox="true"/>
            <p:nvPr/>
          </p:nvSpPr>
          <p:spPr>
            <a:xfrm>
              <a:off x="0" y="-66675"/>
              <a:ext cx="2022792" cy="1085309"/>
            </a:xfrm>
            <a:prstGeom prst="rect">
              <a:avLst/>
            </a:prstGeom>
          </p:spPr>
          <p:txBody>
            <a:bodyPr anchor="ctr" rtlCol="false" tIns="50800" lIns="50800" bIns="50800" rIns="50800"/>
            <a:lstStyle/>
            <a:p>
              <a:pPr algn="ctr">
                <a:lnSpc>
                  <a:spcPts val="3638"/>
                </a:lnSpc>
              </a:pPr>
            </a:p>
          </p:txBody>
        </p:sp>
      </p:grpSp>
      <p:sp>
        <p:nvSpPr>
          <p:cNvPr name="TextBox 17" id="17"/>
          <p:cNvSpPr txBox="true"/>
          <p:nvPr/>
        </p:nvSpPr>
        <p:spPr>
          <a:xfrm rot="0">
            <a:off x="1307554" y="2253386"/>
            <a:ext cx="8391317" cy="2890114"/>
          </a:xfrm>
          <a:prstGeom prst="rect">
            <a:avLst/>
          </a:prstGeom>
        </p:spPr>
        <p:txBody>
          <a:bodyPr anchor="t" rtlCol="false" tIns="0" lIns="0" bIns="0" rIns="0">
            <a:spAutoFit/>
          </a:bodyPr>
          <a:lstStyle/>
          <a:p>
            <a:pPr algn="l">
              <a:lnSpc>
                <a:spcPts val="10713"/>
              </a:lnSpc>
            </a:pPr>
            <a:r>
              <a:rPr lang="en-US" sz="9000" spc="-1071">
                <a:solidFill>
                  <a:srgbClr val="F9F9F9"/>
                </a:solidFill>
                <a:latin typeface="Cy Grotesk V3 Key"/>
                <a:ea typeface="Cy Grotesk V3 Key"/>
                <a:cs typeface="Cy Grotesk V3 Key"/>
                <a:sym typeface="Cy Grotesk V3 Key"/>
              </a:rPr>
              <a:t>Methodology</a:t>
            </a:r>
          </a:p>
        </p:txBody>
      </p:sp>
      <p:sp>
        <p:nvSpPr>
          <p:cNvPr name="TextBox 18" id="18"/>
          <p:cNvSpPr txBox="true"/>
          <p:nvPr/>
        </p:nvSpPr>
        <p:spPr>
          <a:xfrm rot="0">
            <a:off x="8084964" y="2243488"/>
            <a:ext cx="9174336"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A recording passes through five stages: it is partitioned into chunks, each chunk is analysed by the selected models, the resulting records are embedded and indexed, video-level aggregates are derived from them, and the material is then queried.</a:t>
            </a:r>
          </a:p>
        </p:txBody>
      </p:sp>
      <p:sp>
        <p:nvSpPr>
          <p:cNvPr name="TextBox 19" id="19"/>
          <p:cNvSpPr txBox="true"/>
          <p:nvPr/>
        </p:nvSpPr>
        <p:spPr>
          <a:xfrm rot="0">
            <a:off x="8084964" y="3631304"/>
            <a:ext cx="9174336"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Every stage is parameterised rather than fixed. Surveillance footage varies too widely for one configuration to suit all of it, so the chunking scheme and the set of analyzers are chosen per recording at upload time.</a:t>
            </a:r>
          </a:p>
        </p:txBody>
      </p:sp>
      <p:sp>
        <p:nvSpPr>
          <p:cNvPr name="TextBox 20" id="20"/>
          <p:cNvSpPr txBox="true"/>
          <p:nvPr/>
        </p:nvSpPr>
        <p:spPr>
          <a:xfrm rot="0">
            <a:off x="1615228" y="8003438"/>
            <a:ext cx="7086538" cy="883285"/>
          </a:xfrm>
          <a:prstGeom prst="rect">
            <a:avLst/>
          </a:prstGeom>
        </p:spPr>
        <p:txBody>
          <a:bodyPr anchor="t" rtlCol="false" tIns="0" lIns="0" bIns="0" rIns="0">
            <a:spAutoFit/>
          </a:bodyPr>
          <a:lstStyle/>
          <a:p>
            <a:pPr algn="l">
              <a:lnSpc>
                <a:spcPts val="2375"/>
              </a:lnSpc>
            </a:pPr>
            <a:r>
              <a:rPr lang="en-US" sz="1900" i="true" spc="-68">
                <a:solidFill>
                  <a:srgbClr val="FFFFFF"/>
                </a:solidFill>
                <a:latin typeface="HK Grotesk Light Italics"/>
                <a:ea typeface="HK Grotesk Light Italics"/>
                <a:cs typeface="HK Grotesk Light Italics"/>
                <a:sym typeface="HK Grotesk Light Italics"/>
              </a:rPr>
              <a:t>Chunking, analysis, indexing, aggregation and retrieval, each validated end to end before the next was built on top of it.</a:t>
            </a:r>
          </a:p>
        </p:txBody>
      </p:sp>
      <p:sp>
        <p:nvSpPr>
          <p:cNvPr name="TextBox 21" id="21"/>
          <p:cNvSpPr txBox="true"/>
          <p:nvPr/>
        </p:nvSpPr>
        <p:spPr>
          <a:xfrm rot="0">
            <a:off x="9730528" y="8003438"/>
            <a:ext cx="7086538" cy="883285"/>
          </a:xfrm>
          <a:prstGeom prst="rect">
            <a:avLst/>
          </a:prstGeom>
        </p:spPr>
        <p:txBody>
          <a:bodyPr anchor="t" rtlCol="false" tIns="0" lIns="0" bIns="0" rIns="0">
            <a:spAutoFit/>
          </a:bodyPr>
          <a:lstStyle/>
          <a:p>
            <a:pPr algn="l">
              <a:lnSpc>
                <a:spcPts val="2375"/>
              </a:lnSpc>
            </a:pPr>
            <a:r>
              <a:rPr lang="en-US" sz="1900" i="true" spc="-68">
                <a:solidFill>
                  <a:srgbClr val="FFFFFF"/>
                </a:solidFill>
                <a:latin typeface="HK Grotesk Light Italics"/>
                <a:ea typeface="HK Grotesk Light Italics"/>
                <a:cs typeface="HK Grotesk Light Italics"/>
                <a:sym typeface="HK Grotesk Light Italics"/>
              </a:rPr>
              <a:t>Scene, people, object, on-screen text, transcription and speaker-attributed transcription, selected per recording by cost.</a:t>
            </a:r>
          </a:p>
        </p:txBody>
      </p:sp>
      <p:sp>
        <p:nvSpPr>
          <p:cNvPr name="TextBox 22" id="22"/>
          <p:cNvSpPr txBox="true"/>
          <p:nvPr/>
        </p:nvSpPr>
        <p:spPr>
          <a:xfrm rot="0">
            <a:off x="1629219" y="7354207"/>
            <a:ext cx="3691110" cy="508890"/>
          </a:xfrm>
          <a:prstGeom prst="rect">
            <a:avLst/>
          </a:prstGeom>
        </p:spPr>
        <p:txBody>
          <a:bodyPr anchor="t" rtlCol="false" tIns="0" lIns="0" bIns="0" rIns="0">
            <a:spAutoFit/>
          </a:bodyPr>
          <a:lstStyle/>
          <a:p>
            <a:pPr algn="l">
              <a:lnSpc>
                <a:spcPts val="4227"/>
              </a:lnSpc>
            </a:pPr>
            <a:r>
              <a:rPr lang="en-US" sz="2600" b="true">
                <a:solidFill>
                  <a:srgbClr val="FFFFFF"/>
                </a:solidFill>
                <a:latin typeface="HK Grotesk Bold"/>
                <a:ea typeface="HK Grotesk Bold"/>
                <a:cs typeface="HK Grotesk Bold"/>
                <a:sym typeface="HK Grotesk Bold"/>
              </a:rPr>
              <a:t>Pipeline Stages</a:t>
            </a:r>
          </a:p>
        </p:txBody>
      </p:sp>
      <p:sp>
        <p:nvSpPr>
          <p:cNvPr name="TextBox 23" id="23"/>
          <p:cNvSpPr txBox="true"/>
          <p:nvPr/>
        </p:nvSpPr>
        <p:spPr>
          <a:xfrm rot="0">
            <a:off x="9744519" y="7354207"/>
            <a:ext cx="3691110" cy="508890"/>
          </a:xfrm>
          <a:prstGeom prst="rect">
            <a:avLst/>
          </a:prstGeom>
        </p:spPr>
        <p:txBody>
          <a:bodyPr anchor="t" rtlCol="false" tIns="0" lIns="0" bIns="0" rIns="0">
            <a:spAutoFit/>
          </a:bodyPr>
          <a:lstStyle/>
          <a:p>
            <a:pPr algn="l">
              <a:lnSpc>
                <a:spcPts val="4227"/>
              </a:lnSpc>
            </a:pPr>
            <a:r>
              <a:rPr lang="en-US" sz="2600" b="true">
                <a:solidFill>
                  <a:srgbClr val="FFFFFF"/>
                </a:solidFill>
                <a:latin typeface="HK Grotesk Bold"/>
                <a:ea typeface="HK Grotesk Bold"/>
                <a:cs typeface="HK Grotesk Bold"/>
                <a:sym typeface="HK Grotesk Bold"/>
              </a:rPr>
              <a:t>Chunk Analyzers</a:t>
            </a:r>
          </a:p>
        </p:txBody>
      </p:sp>
      <p:sp>
        <p:nvSpPr>
          <p:cNvPr name="TextBox 24" id="24"/>
          <p:cNvSpPr txBox="true"/>
          <p:nvPr/>
        </p:nvSpPr>
        <p:spPr>
          <a:xfrm rot="0">
            <a:off x="1615228" y="5349511"/>
            <a:ext cx="3309142" cy="2090421"/>
          </a:xfrm>
          <a:prstGeom prst="rect">
            <a:avLst/>
          </a:prstGeom>
        </p:spPr>
        <p:txBody>
          <a:bodyPr anchor="t" rtlCol="false" tIns="0" lIns="0" bIns="0" rIns="0">
            <a:spAutoFit/>
          </a:bodyPr>
          <a:lstStyle/>
          <a:p>
            <a:pPr algn="l">
              <a:lnSpc>
                <a:spcPts val="17364"/>
              </a:lnSpc>
            </a:pPr>
            <a:r>
              <a:rPr lang="en-US" sz="11499" b="true">
                <a:solidFill>
                  <a:srgbClr val="FFFFFF"/>
                </a:solidFill>
                <a:latin typeface="HK Grotesk Bold"/>
                <a:ea typeface="HK Grotesk Bold"/>
                <a:cs typeface="HK Grotesk Bold"/>
                <a:sym typeface="HK Grotesk Bold"/>
              </a:rPr>
              <a:t>5</a:t>
            </a:r>
          </a:p>
        </p:txBody>
      </p:sp>
      <p:sp>
        <p:nvSpPr>
          <p:cNvPr name="TextBox 25" id="25"/>
          <p:cNvSpPr txBox="true"/>
          <p:nvPr/>
        </p:nvSpPr>
        <p:spPr>
          <a:xfrm rot="0">
            <a:off x="9730528" y="5349511"/>
            <a:ext cx="6479483" cy="2090421"/>
          </a:xfrm>
          <a:prstGeom prst="rect">
            <a:avLst/>
          </a:prstGeom>
        </p:spPr>
        <p:txBody>
          <a:bodyPr anchor="t" rtlCol="false" tIns="0" lIns="0" bIns="0" rIns="0">
            <a:spAutoFit/>
          </a:bodyPr>
          <a:lstStyle/>
          <a:p>
            <a:pPr algn="l">
              <a:lnSpc>
                <a:spcPts val="17364"/>
              </a:lnSpc>
            </a:pPr>
            <a:r>
              <a:rPr lang="en-US" sz="11499" b="true">
                <a:solidFill>
                  <a:srgbClr val="FFFFFF"/>
                </a:solidFill>
                <a:latin typeface="HK Grotesk Bold"/>
                <a:ea typeface="HK Grotesk Bold"/>
                <a:cs typeface="HK Grotesk Bold"/>
                <a:sym typeface="HK Grotesk Bold"/>
              </a:rPr>
              <a:t>6</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FalconVQA</a:t>
            </a:r>
          </a:p>
        </p:txBody>
      </p:sp>
      <p:sp>
        <p:nvSpPr>
          <p:cNvPr name="TextBox 10" id="1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Semantic Video Retrieval</a:t>
            </a:r>
          </a:p>
        </p:txBody>
      </p:sp>
      <p:grpSp>
        <p:nvGrpSpPr>
          <p:cNvPr name="Group 11" id="11"/>
          <p:cNvGrpSpPr/>
          <p:nvPr/>
        </p:nvGrpSpPr>
        <p:grpSpPr>
          <a:xfrm rot="0">
            <a:off x="1028700" y="2092849"/>
            <a:ext cx="16230600" cy="3944481"/>
            <a:chOff x="0" y="0"/>
            <a:chExt cx="4274726" cy="1038876"/>
          </a:xfrm>
        </p:grpSpPr>
        <p:sp>
          <p:nvSpPr>
            <p:cNvPr name="Freeform 12" id="12"/>
            <p:cNvSpPr/>
            <p:nvPr/>
          </p:nvSpPr>
          <p:spPr>
            <a:xfrm flipH="false" flipV="false" rot="0">
              <a:off x="0" y="0"/>
              <a:ext cx="4274726" cy="1038876"/>
            </a:xfrm>
            <a:custGeom>
              <a:avLst/>
              <a:gdLst/>
              <a:ahLst/>
              <a:cxnLst/>
              <a:rect r="r" b="b" t="t" l="l"/>
              <a:pathLst>
                <a:path h="1038876" w="4274726">
                  <a:moveTo>
                    <a:pt x="24327" y="0"/>
                  </a:moveTo>
                  <a:lnTo>
                    <a:pt x="4250399" y="0"/>
                  </a:lnTo>
                  <a:cubicBezTo>
                    <a:pt x="4263834" y="0"/>
                    <a:pt x="4274726" y="10891"/>
                    <a:pt x="4274726" y="24327"/>
                  </a:cubicBezTo>
                  <a:lnTo>
                    <a:pt x="4274726" y="1014549"/>
                  </a:lnTo>
                  <a:cubicBezTo>
                    <a:pt x="4274726" y="1027984"/>
                    <a:pt x="4263834" y="1038876"/>
                    <a:pt x="4250399" y="1038876"/>
                  </a:cubicBezTo>
                  <a:lnTo>
                    <a:pt x="24327" y="1038876"/>
                  </a:lnTo>
                  <a:cubicBezTo>
                    <a:pt x="10891" y="1038876"/>
                    <a:pt x="0" y="1027984"/>
                    <a:pt x="0" y="1014549"/>
                  </a:cubicBezTo>
                  <a:lnTo>
                    <a:pt x="0" y="24327"/>
                  </a:lnTo>
                  <a:cubicBezTo>
                    <a:pt x="0" y="10891"/>
                    <a:pt x="10891" y="0"/>
                    <a:pt x="24327"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3" id="13"/>
            <p:cNvSpPr txBox="true"/>
            <p:nvPr/>
          </p:nvSpPr>
          <p:spPr>
            <a:xfrm>
              <a:off x="0" y="-66675"/>
              <a:ext cx="4274726" cy="1105551"/>
            </a:xfrm>
            <a:prstGeom prst="rect">
              <a:avLst/>
            </a:prstGeom>
          </p:spPr>
          <p:txBody>
            <a:bodyPr anchor="ctr" rtlCol="false" tIns="50800" lIns="50800" bIns="50800" rIns="50800"/>
            <a:lstStyle/>
            <a:p>
              <a:pPr algn="ctr">
                <a:lnSpc>
                  <a:spcPts val="3638"/>
                </a:lnSpc>
              </a:pPr>
            </a:p>
          </p:txBody>
        </p:sp>
      </p:grpSp>
      <p:sp>
        <p:nvSpPr>
          <p:cNvPr name="TextBox 14" id="14"/>
          <p:cNvSpPr txBox="true"/>
          <p:nvPr/>
        </p:nvSpPr>
        <p:spPr>
          <a:xfrm rot="0">
            <a:off x="1307554" y="2871289"/>
            <a:ext cx="10946804" cy="2692401"/>
          </a:xfrm>
          <a:prstGeom prst="rect">
            <a:avLst/>
          </a:prstGeom>
        </p:spPr>
        <p:txBody>
          <a:bodyPr anchor="t" rtlCol="false" tIns="0" lIns="0" bIns="0" rIns="0">
            <a:spAutoFit/>
          </a:bodyPr>
          <a:lstStyle/>
          <a:p>
            <a:pPr algn="l" marL="0" indent="0" lvl="0">
              <a:lnSpc>
                <a:spcPts val="10000"/>
              </a:lnSpc>
              <a:spcBef>
                <a:spcPct val="0"/>
              </a:spcBef>
            </a:pPr>
            <a:r>
              <a:rPr lang="en-US" sz="8000" spc="-1000">
                <a:solidFill>
                  <a:srgbClr val="F9F9F9"/>
                </a:solidFill>
                <a:latin typeface="Cy Grotesk V3 Key"/>
                <a:ea typeface="Cy Grotesk V3 Key"/>
                <a:cs typeface="Cy Grotesk V3 Key"/>
                <a:sym typeface="Cy Grotesk V3 Key"/>
              </a:rPr>
              <a:t>Nothing to Match</a:t>
            </a:r>
          </a:p>
        </p:txBody>
      </p:sp>
      <p:sp>
        <p:nvSpPr>
          <p:cNvPr name="TextBox 15" id="15"/>
          <p:cNvSpPr txBox="true"/>
          <p:nvPr/>
        </p:nvSpPr>
        <p:spPr>
          <a:xfrm rot="0">
            <a:off x="1307554" y="6846955"/>
            <a:ext cx="13387005" cy="2692401"/>
          </a:xfrm>
          <a:prstGeom prst="rect">
            <a:avLst/>
          </a:prstGeom>
        </p:spPr>
        <p:txBody>
          <a:bodyPr anchor="t" rtlCol="false" tIns="0" lIns="0" bIns="0" rIns="0">
            <a:spAutoFit/>
          </a:bodyPr>
          <a:lstStyle/>
          <a:p>
            <a:pPr algn="l" marL="0" indent="0" lvl="0">
              <a:lnSpc>
                <a:spcPts val="10000"/>
              </a:lnSpc>
              <a:spcBef>
                <a:spcPct val="0"/>
              </a:spcBef>
            </a:pPr>
            <a:r>
              <a:rPr lang="en-US" sz="8000" spc="-1000">
                <a:solidFill>
                  <a:srgbClr val="F9F9F9"/>
                </a:solidFill>
                <a:latin typeface="Cy Grotesk V3 Key"/>
                <a:ea typeface="Cy Grotesk V3 Key"/>
                <a:cs typeface="Cy Grotesk V3 Key"/>
                <a:sym typeface="Cy Grotesk V3 Key"/>
              </a:rPr>
              <a:t>Tools Do Not Fit</a:t>
            </a:r>
          </a:p>
        </p:txBody>
      </p:sp>
      <p:sp>
        <p:nvSpPr>
          <p:cNvPr name="TextBox 16" id="16"/>
          <p:cNvSpPr txBox="true"/>
          <p:nvPr/>
        </p:nvSpPr>
        <p:spPr>
          <a:xfrm rot="0">
            <a:off x="10217738" y="2843693"/>
            <a:ext cx="6772563"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The footage carries no account of what it contains. A description has to be derived from the raw signal before any text query can be answered, and nothing in the recording chain produces one.</a:t>
            </a:r>
          </a:p>
        </p:txBody>
      </p:sp>
      <p:sp>
        <p:nvSpPr>
          <p:cNvPr name="TextBox 17" id="17"/>
          <p:cNvSpPr txBox="true"/>
          <p:nvPr/>
        </p:nvSpPr>
        <p:spPr>
          <a:xfrm rot="0">
            <a:off x="10217738" y="6819360"/>
            <a:ext cx="6772563"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General video understanding tools are built for edited media and rely on shot boundaries, speech and visually salient events. Fixed-camera surveillance footage has none of the three.</a:t>
            </a:r>
          </a:p>
        </p:txBody>
      </p:sp>
      <p:sp>
        <p:nvSpPr>
          <p:cNvPr name="TextBox 18" id="18"/>
          <p:cNvSpPr txBox="true"/>
          <p:nvPr/>
        </p:nvSpPr>
        <p:spPr>
          <a:xfrm rot="0">
            <a:off x="10217738" y="4145829"/>
            <a:ext cx="6772563"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Manual review does not scale. One camera produces twenty-four hours of footage a day, and an archive of any size cannot be watched through to find a single moment.</a:t>
            </a:r>
          </a:p>
        </p:txBody>
      </p:sp>
      <p:sp>
        <p:nvSpPr>
          <p:cNvPr name="TextBox 19" id="19"/>
          <p:cNvSpPr txBox="true"/>
          <p:nvPr/>
        </p:nvSpPr>
        <p:spPr>
          <a:xfrm rot="0">
            <a:off x="10217738" y="8121495"/>
            <a:ext cx="6772563"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Applied to such footage they return the whole recording as a single segment, or subdivide it into hundreds of near-identical ones. Neither result is searchable.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FalconVQA</a:t>
            </a:r>
          </a:p>
        </p:txBody>
      </p:sp>
      <p:sp>
        <p:nvSpPr>
          <p:cNvPr name="TextBox 10" id="1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Semantic Video Retrieval</a:t>
            </a:r>
          </a:p>
        </p:txBody>
      </p:sp>
      <p:grpSp>
        <p:nvGrpSpPr>
          <p:cNvPr name="Group 11" id="11"/>
          <p:cNvGrpSpPr/>
          <p:nvPr/>
        </p:nvGrpSpPr>
        <p:grpSpPr>
          <a:xfrm rot="0">
            <a:off x="10412629" y="2233512"/>
            <a:ext cx="6846671" cy="7024788"/>
            <a:chOff x="0" y="0"/>
            <a:chExt cx="1803239" cy="1850150"/>
          </a:xfrm>
        </p:grpSpPr>
        <p:sp>
          <p:nvSpPr>
            <p:cNvPr name="Freeform 12" id="12"/>
            <p:cNvSpPr/>
            <p:nvPr/>
          </p:nvSpPr>
          <p:spPr>
            <a:xfrm flipH="false" flipV="false" rot="0">
              <a:off x="0" y="0"/>
              <a:ext cx="1803239" cy="1850150"/>
            </a:xfrm>
            <a:custGeom>
              <a:avLst/>
              <a:gdLst/>
              <a:ahLst/>
              <a:cxnLst/>
              <a:rect r="r" b="b" t="t" l="l"/>
              <a:pathLst>
                <a:path h="1850150" w="1803239">
                  <a:moveTo>
                    <a:pt x="57669" y="0"/>
                  </a:moveTo>
                  <a:lnTo>
                    <a:pt x="1745570" y="0"/>
                  </a:lnTo>
                  <a:cubicBezTo>
                    <a:pt x="1777419" y="0"/>
                    <a:pt x="1803239" y="25819"/>
                    <a:pt x="1803239" y="57669"/>
                  </a:cubicBezTo>
                  <a:lnTo>
                    <a:pt x="1803239" y="1792481"/>
                  </a:lnTo>
                  <a:cubicBezTo>
                    <a:pt x="1803239" y="1824331"/>
                    <a:pt x="1777419" y="1850150"/>
                    <a:pt x="1745570" y="1850150"/>
                  </a:cubicBezTo>
                  <a:lnTo>
                    <a:pt x="57669" y="1850150"/>
                  </a:lnTo>
                  <a:cubicBezTo>
                    <a:pt x="25819" y="1850150"/>
                    <a:pt x="0" y="1824331"/>
                    <a:pt x="0" y="1792481"/>
                  </a:cubicBezTo>
                  <a:lnTo>
                    <a:pt x="0" y="57669"/>
                  </a:lnTo>
                  <a:cubicBezTo>
                    <a:pt x="0" y="25819"/>
                    <a:pt x="25819" y="0"/>
                    <a:pt x="57669"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3" id="13"/>
            <p:cNvSpPr txBox="true"/>
            <p:nvPr/>
          </p:nvSpPr>
          <p:spPr>
            <a:xfrm>
              <a:off x="0" y="-66675"/>
              <a:ext cx="1803239" cy="1916825"/>
            </a:xfrm>
            <a:prstGeom prst="rect">
              <a:avLst/>
            </a:prstGeom>
          </p:spPr>
          <p:txBody>
            <a:bodyPr anchor="ctr" rtlCol="false" tIns="50800" lIns="50800" bIns="50800" rIns="50800"/>
            <a:lstStyle/>
            <a:p>
              <a:pPr algn="ctr">
                <a:lnSpc>
                  <a:spcPts val="3638"/>
                </a:lnSpc>
              </a:pPr>
            </a:p>
          </p:txBody>
        </p:sp>
      </p:grpSp>
      <p:sp>
        <p:nvSpPr>
          <p:cNvPr name="TextBox 14" id="14"/>
          <p:cNvSpPr txBox="true"/>
          <p:nvPr/>
        </p:nvSpPr>
        <p:spPr>
          <a:xfrm rot="0">
            <a:off x="1028700" y="3402012"/>
            <a:ext cx="8778240" cy="3959226"/>
          </a:xfrm>
          <a:prstGeom prst="rect">
            <a:avLst/>
          </a:prstGeom>
        </p:spPr>
        <p:txBody>
          <a:bodyPr anchor="t" rtlCol="false" tIns="0" lIns="0" bIns="0" rIns="0">
            <a:spAutoFit/>
          </a:bodyPr>
          <a:lstStyle/>
          <a:p>
            <a:pPr algn="l" marL="0" indent="0" lvl="0">
              <a:lnSpc>
                <a:spcPts val="10000"/>
              </a:lnSpc>
              <a:spcBef>
                <a:spcPct val="0"/>
              </a:spcBef>
            </a:pPr>
            <a:r>
              <a:rPr lang="en-US" sz="8800" spc="-1000">
                <a:solidFill>
                  <a:srgbClr val="F9F9F9"/>
                </a:solidFill>
                <a:latin typeface="Cy Grotesk V3 Key"/>
                <a:ea typeface="Cy Grotesk V3 Key"/>
                <a:cs typeface="Cy Grotesk V3 Key"/>
                <a:sym typeface="Cy Grotesk V3 Key"/>
              </a:rPr>
              <a:t>Sampling and Analysis</a:t>
            </a:r>
          </a:p>
        </p:txBody>
      </p:sp>
      <p:sp>
        <p:nvSpPr>
          <p:cNvPr name="TextBox 15" id="15"/>
          <p:cNvSpPr txBox="true"/>
          <p:nvPr/>
        </p:nvSpPr>
        <p:spPr>
          <a:xfrm rot="0">
            <a:off x="1028700" y="7882853"/>
            <a:ext cx="7291346" cy="1331595"/>
          </a:xfrm>
          <a:prstGeom prst="rect">
            <a:avLst/>
          </a:prstGeom>
        </p:spPr>
        <p:txBody>
          <a:bodyPr anchor="t" rtlCol="false" tIns="0" lIns="0" bIns="0" rIns="0">
            <a:spAutoFit/>
          </a:bodyPr>
          <a:lstStyle/>
          <a:p>
            <a:pPr algn="l">
              <a:lnSpc>
                <a:spcPts val="2640"/>
              </a:lnSpc>
            </a:pPr>
            <a:r>
              <a:rPr lang="en-US" sz="1800" spc="-110">
                <a:solidFill>
                  <a:srgbClr val="FFFFFF"/>
                </a:solidFill>
                <a:latin typeface="HK Grotesk"/>
                <a:ea typeface="HK Grotesk"/>
                <a:cs typeface="HK Grotesk"/>
                <a:sym typeface="HK Grotesk"/>
              </a:rPr>
              <a:t>Six analyzers are available and are selected at upload time, since their costs differ by orders of magnitude: scene description, per-person description, object detection, on-screen text, transcription and speaker-attributed transcription.</a:t>
            </a:r>
          </a:p>
        </p:txBody>
      </p:sp>
      <p:sp>
        <p:nvSpPr>
          <p:cNvPr name="TextBox 16" id="16"/>
          <p:cNvSpPr txBox="true"/>
          <p:nvPr/>
        </p:nvSpPr>
        <p:spPr>
          <a:xfrm rot="0">
            <a:off x="10912792" y="3571610"/>
            <a:ext cx="6071251"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Candidates are drawn at a low fixed rate and near-duplicates removed by comparing OpenCLIP embeddings. The threshold is the 40th percentile of similarity within the chunk, capped at 0.98; a fixed threshold retained one frame on a static camera.</a:t>
            </a:r>
          </a:p>
        </p:txBody>
      </p:sp>
      <p:sp>
        <p:nvSpPr>
          <p:cNvPr name="TextBox 17" id="17"/>
          <p:cNvSpPr txBox="true"/>
          <p:nvPr/>
        </p:nvSpPr>
        <p:spPr>
          <a:xfrm rot="0">
            <a:off x="10912792" y="6770841"/>
            <a:ext cx="6071251"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YOLO11 and EasyOCR run first as gates: a frame with no detected object and no text is never submitted to the vision-language model. Surviving frames are sent as one sequence per chunk, so movement across it is described.</a:t>
            </a:r>
          </a:p>
        </p:txBody>
      </p:sp>
      <p:sp>
        <p:nvSpPr>
          <p:cNvPr name="TextBox 18" id="18"/>
          <p:cNvSpPr txBox="true"/>
          <p:nvPr/>
        </p:nvSpPr>
        <p:spPr>
          <a:xfrm rot="0">
            <a:off x="10926783" y="2843150"/>
            <a:ext cx="3691110" cy="508890"/>
          </a:xfrm>
          <a:prstGeom prst="rect">
            <a:avLst/>
          </a:prstGeom>
        </p:spPr>
        <p:txBody>
          <a:bodyPr anchor="t" rtlCol="false" tIns="0" lIns="0" bIns="0" rIns="0">
            <a:spAutoFit/>
          </a:bodyPr>
          <a:lstStyle/>
          <a:p>
            <a:pPr algn="l">
              <a:lnSpc>
                <a:spcPts val="4227"/>
              </a:lnSpc>
            </a:pPr>
            <a:r>
              <a:rPr lang="en-US" sz="2600" b="true">
                <a:solidFill>
                  <a:srgbClr val="FFFFFF"/>
                </a:solidFill>
                <a:latin typeface="HK Grotesk Bold"/>
                <a:ea typeface="HK Grotesk Bold"/>
                <a:cs typeface="HK Grotesk Bold"/>
                <a:sym typeface="HK Grotesk Bold"/>
              </a:rPr>
              <a:t>Adaptive Sampling</a:t>
            </a:r>
          </a:p>
        </p:txBody>
      </p:sp>
      <p:sp>
        <p:nvSpPr>
          <p:cNvPr name="TextBox 19" id="19"/>
          <p:cNvSpPr txBox="true"/>
          <p:nvPr/>
        </p:nvSpPr>
        <p:spPr>
          <a:xfrm rot="0">
            <a:off x="10926783" y="6042381"/>
            <a:ext cx="3691110" cy="508890"/>
          </a:xfrm>
          <a:prstGeom prst="rect">
            <a:avLst/>
          </a:prstGeom>
        </p:spPr>
        <p:txBody>
          <a:bodyPr anchor="t" rtlCol="false" tIns="0" lIns="0" bIns="0" rIns="0">
            <a:spAutoFit/>
          </a:bodyPr>
          <a:lstStyle/>
          <a:p>
            <a:pPr algn="l">
              <a:lnSpc>
                <a:spcPts val="4227"/>
              </a:lnSpc>
            </a:pPr>
            <a:r>
              <a:rPr lang="en-US" sz="2600" b="true">
                <a:solidFill>
                  <a:srgbClr val="FFFFFF"/>
                </a:solidFill>
                <a:latin typeface="HK Grotesk Bold"/>
                <a:ea typeface="HK Grotesk Bold"/>
                <a:cs typeface="HK Grotesk Bold"/>
                <a:sym typeface="HK Grotesk Bold"/>
              </a:rPr>
              <a:t>Gated Vision Calls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90188" y="2176659"/>
            <a:ext cx="17907623" cy="1317624"/>
          </a:xfrm>
          <a:prstGeom prst="rect">
            <a:avLst/>
          </a:prstGeom>
        </p:spPr>
        <p:txBody>
          <a:bodyPr anchor="t" rtlCol="false" tIns="0" lIns="0" bIns="0" rIns="0">
            <a:spAutoFit/>
          </a:bodyPr>
          <a:lstStyle/>
          <a:p>
            <a:pPr algn="ctr" marL="0" indent="0" lvl="0">
              <a:lnSpc>
                <a:spcPts val="9199"/>
              </a:lnSpc>
              <a:spcBef>
                <a:spcPct val="0"/>
              </a:spcBef>
            </a:pPr>
            <a:r>
              <a:rPr lang="en-US" sz="11499" spc="-919">
                <a:solidFill>
                  <a:srgbClr val="F9F9F9"/>
                </a:solidFill>
                <a:latin typeface="Cy Grotesk V3 Key"/>
                <a:ea typeface="Cy Grotesk V3 Key"/>
                <a:cs typeface="Cy Grotesk V3 Key"/>
                <a:sym typeface="Cy Grotesk V3 Key"/>
              </a:rPr>
              <a:t>Objectives</a:t>
            </a:r>
          </a:p>
        </p:txBody>
      </p:sp>
      <p:sp>
        <p:nvSpPr>
          <p:cNvPr name="TextBox 10" id="10"/>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FalconVQA</a:t>
            </a:r>
          </a:p>
        </p:txBody>
      </p:sp>
      <p:sp>
        <p:nvSpPr>
          <p:cNvPr name="TextBox 11" id="11"/>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Semantic Video Retrieval</a:t>
            </a:r>
          </a:p>
        </p:txBody>
      </p:sp>
      <p:sp>
        <p:nvSpPr>
          <p:cNvPr name="TextBox 12" id="12"/>
          <p:cNvSpPr txBox="true"/>
          <p:nvPr/>
        </p:nvSpPr>
        <p:spPr>
          <a:xfrm rot="0">
            <a:off x="1811283" y="5561561"/>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Design a chunking and sampling algorithm suited to continuous audio and video, so that a recording carrying no editorial structure is divided at the points where its content actually changes.</a:t>
            </a:r>
          </a:p>
        </p:txBody>
      </p:sp>
      <p:sp>
        <p:nvSpPr>
          <p:cNvPr name="TextBox 13" id="13"/>
          <p:cNvSpPr txBox="true"/>
          <p:nvPr/>
        </p:nvSpPr>
        <p:spPr>
          <a:xfrm rot="0">
            <a:off x="9977311" y="5561561"/>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Feed the sampled frames and audio into a vision-language model under a strict output schema, and index the structured descriptions it returns as embeddings a plain-language query can match.</a:t>
            </a:r>
          </a:p>
        </p:txBody>
      </p:sp>
      <p:sp>
        <p:nvSpPr>
          <p:cNvPr name="TextBox 14" id="14"/>
          <p:cNvSpPr txBox="true"/>
          <p:nvPr/>
        </p:nvSpPr>
        <p:spPr>
          <a:xfrm rot="0">
            <a:off x="1811283" y="7713058"/>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Deliver the complete working application: a multi-tenant workspace in which upload, progress, search, conversation and playback all take place, with each operator's recordings isolated.</a:t>
            </a:r>
          </a:p>
        </p:txBody>
      </p:sp>
      <p:sp>
        <p:nvSpPr>
          <p:cNvPr name="TextBox 15" id="15"/>
          <p:cNvSpPr txBox="true"/>
          <p:nvPr/>
        </p:nvSpPr>
        <p:spPr>
          <a:xfrm rot="0">
            <a:off x="9977311" y="7713058"/>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Answer questions over a recording with citations to the moments the answer was drawn from, and expose every capability over a documented, self-describing HTTP API for agent use.</a:t>
            </a:r>
          </a:p>
        </p:txBody>
      </p:sp>
      <p:sp>
        <p:nvSpPr>
          <p:cNvPr name="TextBox 16" id="16"/>
          <p:cNvSpPr txBox="true"/>
          <p:nvPr/>
        </p:nvSpPr>
        <p:spPr>
          <a:xfrm rot="0">
            <a:off x="1811283" y="4726799"/>
            <a:ext cx="2731129" cy="721995"/>
          </a:xfrm>
          <a:prstGeom prst="rect">
            <a:avLst/>
          </a:prstGeom>
        </p:spPr>
        <p:txBody>
          <a:bodyPr anchor="t" rtlCol="false" tIns="0" lIns="0" bIns="0" rIns="0">
            <a:spAutoFit/>
          </a:bodyPr>
          <a:lstStyle/>
          <a:p>
            <a:pPr algn="l">
              <a:lnSpc>
                <a:spcPts val="5880"/>
              </a:lnSpc>
            </a:pPr>
            <a:r>
              <a:rPr lang="en-US" b="true" sz="4200" spc="-147">
                <a:solidFill>
                  <a:srgbClr val="8ADCFF"/>
                </a:solidFill>
                <a:latin typeface="HK Grotesk Bold"/>
                <a:ea typeface="HK Grotesk Bold"/>
                <a:cs typeface="HK Grotesk Bold"/>
                <a:sym typeface="HK Grotesk Bold"/>
              </a:rPr>
              <a:t>O-1</a:t>
            </a:r>
          </a:p>
        </p:txBody>
      </p:sp>
      <p:sp>
        <p:nvSpPr>
          <p:cNvPr name="TextBox 17" id="17"/>
          <p:cNvSpPr txBox="true"/>
          <p:nvPr/>
        </p:nvSpPr>
        <p:spPr>
          <a:xfrm rot="0">
            <a:off x="9977311" y="4726799"/>
            <a:ext cx="2731129" cy="721995"/>
          </a:xfrm>
          <a:prstGeom prst="rect">
            <a:avLst/>
          </a:prstGeom>
        </p:spPr>
        <p:txBody>
          <a:bodyPr anchor="t" rtlCol="false" tIns="0" lIns="0" bIns="0" rIns="0">
            <a:spAutoFit/>
          </a:bodyPr>
          <a:lstStyle/>
          <a:p>
            <a:pPr algn="l">
              <a:lnSpc>
                <a:spcPts val="5880"/>
              </a:lnSpc>
            </a:pPr>
            <a:r>
              <a:rPr lang="en-US" b="true" sz="4200" spc="-147">
                <a:solidFill>
                  <a:srgbClr val="8ADCFF"/>
                </a:solidFill>
                <a:latin typeface="HK Grotesk Bold"/>
                <a:ea typeface="HK Grotesk Bold"/>
                <a:cs typeface="HK Grotesk Bold"/>
                <a:sym typeface="HK Grotesk Bold"/>
              </a:rPr>
              <a:t>O-2</a:t>
            </a:r>
          </a:p>
        </p:txBody>
      </p:sp>
      <p:sp>
        <p:nvSpPr>
          <p:cNvPr name="TextBox 18" id="18"/>
          <p:cNvSpPr txBox="true"/>
          <p:nvPr/>
        </p:nvSpPr>
        <p:spPr>
          <a:xfrm rot="0">
            <a:off x="1811283" y="6862537"/>
            <a:ext cx="2731129" cy="721995"/>
          </a:xfrm>
          <a:prstGeom prst="rect">
            <a:avLst/>
          </a:prstGeom>
        </p:spPr>
        <p:txBody>
          <a:bodyPr anchor="t" rtlCol="false" tIns="0" lIns="0" bIns="0" rIns="0">
            <a:spAutoFit/>
          </a:bodyPr>
          <a:lstStyle/>
          <a:p>
            <a:pPr algn="l">
              <a:lnSpc>
                <a:spcPts val="5880"/>
              </a:lnSpc>
            </a:pPr>
            <a:r>
              <a:rPr lang="en-US" b="true" sz="4200" spc="-147">
                <a:solidFill>
                  <a:srgbClr val="8ADCFF"/>
                </a:solidFill>
                <a:latin typeface="HK Grotesk Bold"/>
                <a:ea typeface="HK Grotesk Bold"/>
                <a:cs typeface="HK Grotesk Bold"/>
                <a:sym typeface="HK Grotesk Bold"/>
              </a:rPr>
              <a:t>O-3</a:t>
            </a:r>
          </a:p>
        </p:txBody>
      </p:sp>
      <p:sp>
        <p:nvSpPr>
          <p:cNvPr name="TextBox 19" id="19"/>
          <p:cNvSpPr txBox="true"/>
          <p:nvPr/>
        </p:nvSpPr>
        <p:spPr>
          <a:xfrm rot="0">
            <a:off x="9977311" y="6862537"/>
            <a:ext cx="2731129" cy="721995"/>
          </a:xfrm>
          <a:prstGeom prst="rect">
            <a:avLst/>
          </a:prstGeom>
        </p:spPr>
        <p:txBody>
          <a:bodyPr anchor="t" rtlCol="false" tIns="0" lIns="0" bIns="0" rIns="0">
            <a:spAutoFit/>
          </a:bodyPr>
          <a:lstStyle/>
          <a:p>
            <a:pPr algn="l">
              <a:lnSpc>
                <a:spcPts val="5880"/>
              </a:lnSpc>
            </a:pPr>
            <a:r>
              <a:rPr lang="en-US" b="true" sz="4200" spc="-147">
                <a:solidFill>
                  <a:srgbClr val="8ADCFF"/>
                </a:solidFill>
                <a:latin typeface="HK Grotesk Bold"/>
                <a:ea typeface="HK Grotesk Bold"/>
                <a:cs typeface="HK Grotesk Bold"/>
                <a:sym typeface="HK Grotesk Bold"/>
              </a:rPr>
              <a:t>O-4</a:t>
            </a:r>
          </a:p>
        </p:txBody>
      </p:sp>
      <p:grpSp>
        <p:nvGrpSpPr>
          <p:cNvPr name="Group 20" id="20"/>
          <p:cNvGrpSpPr/>
          <p:nvPr/>
        </p:nvGrpSpPr>
        <p:grpSpPr>
          <a:xfrm rot="0">
            <a:off x="1307554" y="4676673"/>
            <a:ext cx="198488" cy="4249299"/>
            <a:chOff x="0" y="0"/>
            <a:chExt cx="52277" cy="1119157"/>
          </a:xfrm>
        </p:grpSpPr>
        <p:sp>
          <p:nvSpPr>
            <p:cNvPr name="Freeform 21" id="21"/>
            <p:cNvSpPr/>
            <p:nvPr/>
          </p:nvSpPr>
          <p:spPr>
            <a:xfrm flipH="false" flipV="false" rot="0">
              <a:off x="0" y="0"/>
              <a:ext cx="52277" cy="1119157"/>
            </a:xfrm>
            <a:custGeom>
              <a:avLst/>
              <a:gdLst/>
              <a:ahLst/>
              <a:cxnLst/>
              <a:rect r="r" b="b" t="t" l="l"/>
              <a:pathLst>
                <a:path h="1119157" w="52277">
                  <a:moveTo>
                    <a:pt x="26138" y="0"/>
                  </a:moveTo>
                  <a:lnTo>
                    <a:pt x="26138" y="0"/>
                  </a:lnTo>
                  <a:cubicBezTo>
                    <a:pt x="40574" y="0"/>
                    <a:pt x="52277" y="11703"/>
                    <a:pt x="52277" y="26138"/>
                  </a:cubicBezTo>
                  <a:lnTo>
                    <a:pt x="52277" y="1093019"/>
                  </a:lnTo>
                  <a:cubicBezTo>
                    <a:pt x="52277" y="1099951"/>
                    <a:pt x="49523" y="1106599"/>
                    <a:pt x="44621" y="1111501"/>
                  </a:cubicBezTo>
                  <a:cubicBezTo>
                    <a:pt x="39719" y="1116403"/>
                    <a:pt x="33071" y="1119157"/>
                    <a:pt x="26138" y="1119157"/>
                  </a:cubicBezTo>
                  <a:lnTo>
                    <a:pt x="26138" y="1119157"/>
                  </a:lnTo>
                  <a:cubicBezTo>
                    <a:pt x="19206" y="1119157"/>
                    <a:pt x="12558" y="1116403"/>
                    <a:pt x="7656" y="1111501"/>
                  </a:cubicBezTo>
                  <a:cubicBezTo>
                    <a:pt x="2754" y="1106599"/>
                    <a:pt x="0" y="1099951"/>
                    <a:pt x="0" y="1093019"/>
                  </a:cubicBezTo>
                  <a:lnTo>
                    <a:pt x="0" y="26138"/>
                  </a:lnTo>
                  <a:cubicBezTo>
                    <a:pt x="0" y="19206"/>
                    <a:pt x="2754" y="12558"/>
                    <a:pt x="7656" y="7656"/>
                  </a:cubicBezTo>
                  <a:cubicBezTo>
                    <a:pt x="12558" y="2754"/>
                    <a:pt x="19206" y="0"/>
                    <a:pt x="26138"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2" id="22"/>
            <p:cNvSpPr txBox="true"/>
            <p:nvPr/>
          </p:nvSpPr>
          <p:spPr>
            <a:xfrm>
              <a:off x="0" y="-66675"/>
              <a:ext cx="52277" cy="1185832"/>
            </a:xfrm>
            <a:prstGeom prst="rect">
              <a:avLst/>
            </a:prstGeom>
          </p:spPr>
          <p:txBody>
            <a:bodyPr anchor="ctr" rtlCol="false" tIns="50800" lIns="50800" bIns="50800" rIns="50800"/>
            <a:lstStyle/>
            <a:p>
              <a:pPr algn="ctr">
                <a:lnSpc>
                  <a:spcPts val="3638"/>
                </a:lnSpc>
              </a:pPr>
            </a:p>
          </p:txBody>
        </p:sp>
      </p:grpSp>
      <p:grpSp>
        <p:nvGrpSpPr>
          <p:cNvPr name="Group 23" id="23"/>
          <p:cNvGrpSpPr/>
          <p:nvPr/>
        </p:nvGrpSpPr>
        <p:grpSpPr>
          <a:xfrm rot="0">
            <a:off x="9473583" y="4676673"/>
            <a:ext cx="198488" cy="4249299"/>
            <a:chOff x="0" y="0"/>
            <a:chExt cx="52277" cy="1119157"/>
          </a:xfrm>
        </p:grpSpPr>
        <p:sp>
          <p:nvSpPr>
            <p:cNvPr name="Freeform 24" id="24"/>
            <p:cNvSpPr/>
            <p:nvPr/>
          </p:nvSpPr>
          <p:spPr>
            <a:xfrm flipH="false" flipV="false" rot="0">
              <a:off x="0" y="0"/>
              <a:ext cx="52277" cy="1119157"/>
            </a:xfrm>
            <a:custGeom>
              <a:avLst/>
              <a:gdLst/>
              <a:ahLst/>
              <a:cxnLst/>
              <a:rect r="r" b="b" t="t" l="l"/>
              <a:pathLst>
                <a:path h="1119157" w="52277">
                  <a:moveTo>
                    <a:pt x="26138" y="0"/>
                  </a:moveTo>
                  <a:lnTo>
                    <a:pt x="26138" y="0"/>
                  </a:lnTo>
                  <a:cubicBezTo>
                    <a:pt x="40574" y="0"/>
                    <a:pt x="52277" y="11703"/>
                    <a:pt x="52277" y="26138"/>
                  </a:cubicBezTo>
                  <a:lnTo>
                    <a:pt x="52277" y="1093019"/>
                  </a:lnTo>
                  <a:cubicBezTo>
                    <a:pt x="52277" y="1099951"/>
                    <a:pt x="49523" y="1106599"/>
                    <a:pt x="44621" y="1111501"/>
                  </a:cubicBezTo>
                  <a:cubicBezTo>
                    <a:pt x="39719" y="1116403"/>
                    <a:pt x="33071" y="1119157"/>
                    <a:pt x="26138" y="1119157"/>
                  </a:cubicBezTo>
                  <a:lnTo>
                    <a:pt x="26138" y="1119157"/>
                  </a:lnTo>
                  <a:cubicBezTo>
                    <a:pt x="19206" y="1119157"/>
                    <a:pt x="12558" y="1116403"/>
                    <a:pt x="7656" y="1111501"/>
                  </a:cubicBezTo>
                  <a:cubicBezTo>
                    <a:pt x="2754" y="1106599"/>
                    <a:pt x="0" y="1099951"/>
                    <a:pt x="0" y="1093019"/>
                  </a:cubicBezTo>
                  <a:lnTo>
                    <a:pt x="0" y="26138"/>
                  </a:lnTo>
                  <a:cubicBezTo>
                    <a:pt x="0" y="19206"/>
                    <a:pt x="2754" y="12558"/>
                    <a:pt x="7656" y="7656"/>
                  </a:cubicBezTo>
                  <a:cubicBezTo>
                    <a:pt x="12558" y="2754"/>
                    <a:pt x="19206" y="0"/>
                    <a:pt x="26138"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5" id="25"/>
            <p:cNvSpPr txBox="true"/>
            <p:nvPr/>
          </p:nvSpPr>
          <p:spPr>
            <a:xfrm>
              <a:off x="0" y="-66675"/>
              <a:ext cx="52277" cy="1185832"/>
            </a:xfrm>
            <a:prstGeom prst="rect">
              <a:avLst/>
            </a:prstGeom>
          </p:spPr>
          <p:txBody>
            <a:bodyPr anchor="ctr" rtlCol="false" tIns="50800" lIns="50800" bIns="50800" rIns="50800"/>
            <a:lstStyle/>
            <a:p>
              <a:pPr algn="ctr">
                <a:lnSpc>
                  <a:spcPts val="3638"/>
                </a:lnSpc>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25000"/>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25000"/>
            </a:blip>
            <a:stretch>
              <a:fillRect l="0" t="0" r="0" b="0"/>
            </a:stretch>
          </a:blipFill>
        </p:spPr>
      </p:sp>
      <p:grpSp>
        <p:nvGrpSpPr>
          <p:cNvPr name="Group 5" id="5"/>
          <p:cNvGrpSpPr/>
          <p:nvPr/>
        </p:nvGrpSpPr>
        <p:grpSpPr>
          <a:xfrm rot="0">
            <a:off x="1028700" y="7864552"/>
            <a:ext cx="16230600" cy="149974"/>
            <a:chOff x="0" y="0"/>
            <a:chExt cx="4052983" cy="37450"/>
          </a:xfrm>
        </p:grpSpPr>
        <p:sp>
          <p:nvSpPr>
            <p:cNvPr name="Freeform 6" id="6"/>
            <p:cNvSpPr/>
            <p:nvPr/>
          </p:nvSpPr>
          <p:spPr>
            <a:xfrm flipH="false" flipV="false" rot="0">
              <a:off x="0" y="0"/>
              <a:ext cx="4052983" cy="37450"/>
            </a:xfrm>
            <a:custGeom>
              <a:avLst/>
              <a:gdLst/>
              <a:ahLst/>
              <a:cxnLst/>
              <a:rect r="r" b="b" t="t" l="l"/>
              <a:pathLst>
                <a:path h="37450" w="4052983">
                  <a:moveTo>
                    <a:pt x="0" y="0"/>
                  </a:moveTo>
                  <a:lnTo>
                    <a:pt x="4052983" y="0"/>
                  </a:lnTo>
                  <a:lnTo>
                    <a:pt x="4052983" y="37450"/>
                  </a:lnTo>
                  <a:lnTo>
                    <a:pt x="0" y="37450"/>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7" id="7"/>
            <p:cNvSpPr txBox="true"/>
            <p:nvPr/>
          </p:nvSpPr>
          <p:spPr>
            <a:xfrm>
              <a:off x="0" y="-38100"/>
              <a:ext cx="4052983" cy="75550"/>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198790" y="3780242"/>
            <a:ext cx="14331447" cy="2285985"/>
          </a:xfrm>
          <a:prstGeom prst="rect">
            <a:avLst/>
          </a:prstGeom>
        </p:spPr>
        <p:txBody>
          <a:bodyPr anchor="t" rtlCol="false" tIns="0" lIns="0" bIns="0" rIns="0">
            <a:spAutoFit/>
          </a:bodyPr>
          <a:lstStyle/>
          <a:p>
            <a:pPr algn="l" marL="0" indent="0" lvl="0">
              <a:lnSpc>
                <a:spcPts val="15987"/>
              </a:lnSpc>
              <a:spcBef>
                <a:spcPct val="0"/>
              </a:spcBef>
            </a:pPr>
            <a:r>
              <a:rPr lang="en-US" sz="19984" spc="-1598">
                <a:solidFill>
                  <a:srgbClr val="F9F9F9"/>
                </a:solidFill>
                <a:latin typeface="Cy Grotesk V3 Key"/>
                <a:ea typeface="Cy Grotesk V3 Key"/>
                <a:cs typeface="Cy Grotesk V3 Key"/>
                <a:sym typeface="Cy Grotesk V3 Key"/>
              </a:rPr>
              <a:t>Thank You</a:t>
            </a:r>
          </a:p>
        </p:txBody>
      </p:sp>
      <p:sp>
        <p:nvSpPr>
          <p:cNvPr name="TextBox 13" id="13"/>
          <p:cNvSpPr txBox="true"/>
          <p:nvPr/>
        </p:nvSpPr>
        <p:spPr>
          <a:xfrm rot="0">
            <a:off x="1307554" y="6275776"/>
            <a:ext cx="16286055" cy="1222031"/>
          </a:xfrm>
          <a:prstGeom prst="rect">
            <a:avLst/>
          </a:prstGeom>
        </p:spPr>
        <p:txBody>
          <a:bodyPr anchor="t" rtlCol="false" tIns="0" lIns="0" bIns="0" rIns="0">
            <a:spAutoFit/>
          </a:bodyPr>
          <a:lstStyle/>
          <a:p>
            <a:pPr algn="l" marL="0" indent="0" lvl="0">
              <a:lnSpc>
                <a:spcPts val="4544"/>
              </a:lnSpc>
              <a:spcBef>
                <a:spcPct val="0"/>
              </a:spcBef>
            </a:pPr>
            <a:r>
              <a:rPr lang="en-US" sz="5680" spc="1584">
                <a:solidFill>
                  <a:srgbClr val="F9F9F9"/>
                </a:solidFill>
                <a:latin typeface="Cy Grotesk V3 Key Light"/>
                <a:ea typeface="Cy Grotesk V3 Key Light"/>
                <a:cs typeface="Cy Grotesk V3 Key Light"/>
                <a:sym typeface="Cy Grotesk V3 Key Light"/>
              </a:rPr>
              <a:t>Questions and Discussion</a:t>
            </a:r>
          </a:p>
        </p:txBody>
      </p:sp>
      <p:sp>
        <p:nvSpPr>
          <p:cNvPr name="TextBox 15" id="15"/>
          <p:cNvSpPr txBox="true"/>
          <p:nvPr/>
        </p:nvSpPr>
        <p:spPr>
          <a:xfrm rot="0">
            <a:off x="1307554" y="8457146"/>
            <a:ext cx="4958259" cy="523875"/>
          </a:xfrm>
          <a:prstGeom prst="rect">
            <a:avLst/>
          </a:prstGeom>
        </p:spPr>
        <p:txBody>
          <a:bodyPr anchor="t" rtlCol="false" tIns="0" lIns="0" bIns="0" rIns="0">
            <a:spAutoFit/>
          </a:bodyPr>
          <a:lstStyle/>
          <a:p>
            <a:pPr algn="l">
              <a:lnSpc>
                <a:spcPts val="4200"/>
              </a:lnSpc>
              <a:spcBef>
                <a:spcPct val="0"/>
              </a:spcBef>
            </a:pPr>
            <a:r>
              <a:rPr lang="en-US" sz="2200" spc="-105">
                <a:solidFill>
                  <a:srgbClr val="FFFFFF"/>
                </a:solidFill>
                <a:latin typeface="HK Grotesk"/>
                <a:ea typeface="HK Grotesk"/>
                <a:cs typeface="HK Grotesk"/>
                <a:sym typeface="HK Grotesk"/>
              </a:rPr>
              <a:t>Avinash Anish  |  Vaivaswat Verma</a:t>
            </a:r>
          </a:p>
        </p:txBody>
      </p:sp>
      <p:sp>
        <p:nvSpPr>
          <p:cNvPr name="TextBox 16" id="16"/>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R. V. College of Engineering</a:t>
            </a:r>
          </a:p>
        </p:txBody>
      </p:sp>
      <p:sp>
        <p:nvSpPr>
          <p:cNvPr name="TextBox 17" id="17"/>
          <p:cNvSpPr txBox="true"/>
          <p:nvPr/>
        </p:nvSpPr>
        <p:spPr>
          <a:xfrm rot="0">
            <a:off x="14952317" y="1123950"/>
            <a:ext cx="2875326"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August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FalconVQA</a:t>
            </a:r>
          </a:p>
        </p:txBody>
      </p:sp>
      <p:sp>
        <p:nvSpPr>
          <p:cNvPr name="TextBox 10" id="1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Semantic Video Retrieval</a:t>
            </a:r>
          </a:p>
        </p:txBody>
      </p:sp>
      <p:grpSp>
        <p:nvGrpSpPr>
          <p:cNvPr name="Group 11" id="11"/>
          <p:cNvGrpSpPr/>
          <p:nvPr/>
        </p:nvGrpSpPr>
        <p:grpSpPr>
          <a:xfrm rot="0">
            <a:off x="10412629" y="2233512"/>
            <a:ext cx="6846671" cy="7024788"/>
            <a:chOff x="0" y="0"/>
            <a:chExt cx="1803239" cy="1850150"/>
          </a:xfrm>
        </p:grpSpPr>
        <p:sp>
          <p:nvSpPr>
            <p:cNvPr name="Freeform 12" id="12"/>
            <p:cNvSpPr/>
            <p:nvPr/>
          </p:nvSpPr>
          <p:spPr>
            <a:xfrm flipH="false" flipV="false" rot="0">
              <a:off x="0" y="0"/>
              <a:ext cx="1803239" cy="1850150"/>
            </a:xfrm>
            <a:custGeom>
              <a:avLst/>
              <a:gdLst/>
              <a:ahLst/>
              <a:cxnLst/>
              <a:rect r="r" b="b" t="t" l="l"/>
              <a:pathLst>
                <a:path h="1850150" w="1803239">
                  <a:moveTo>
                    <a:pt x="57669" y="0"/>
                  </a:moveTo>
                  <a:lnTo>
                    <a:pt x="1745570" y="0"/>
                  </a:lnTo>
                  <a:cubicBezTo>
                    <a:pt x="1777419" y="0"/>
                    <a:pt x="1803239" y="25819"/>
                    <a:pt x="1803239" y="57669"/>
                  </a:cubicBezTo>
                  <a:lnTo>
                    <a:pt x="1803239" y="1792481"/>
                  </a:lnTo>
                  <a:cubicBezTo>
                    <a:pt x="1803239" y="1824331"/>
                    <a:pt x="1777419" y="1850150"/>
                    <a:pt x="1745570" y="1850150"/>
                  </a:cubicBezTo>
                  <a:lnTo>
                    <a:pt x="57669" y="1850150"/>
                  </a:lnTo>
                  <a:cubicBezTo>
                    <a:pt x="25819" y="1850150"/>
                    <a:pt x="0" y="1824331"/>
                    <a:pt x="0" y="1792481"/>
                  </a:cubicBezTo>
                  <a:lnTo>
                    <a:pt x="0" y="57669"/>
                  </a:lnTo>
                  <a:cubicBezTo>
                    <a:pt x="0" y="25819"/>
                    <a:pt x="25819" y="0"/>
                    <a:pt x="57669"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3" id="13"/>
            <p:cNvSpPr txBox="true"/>
            <p:nvPr/>
          </p:nvSpPr>
          <p:spPr>
            <a:xfrm>
              <a:off x="0" y="-66675"/>
              <a:ext cx="1803239" cy="1916825"/>
            </a:xfrm>
            <a:prstGeom prst="rect">
              <a:avLst/>
            </a:prstGeom>
          </p:spPr>
          <p:txBody>
            <a:bodyPr anchor="ctr" rtlCol="false" tIns="50800" lIns="50800" bIns="50800" rIns="50800"/>
            <a:lstStyle/>
            <a:p>
              <a:pPr algn="ctr">
                <a:lnSpc>
                  <a:spcPts val="3638"/>
                </a:lnSpc>
              </a:pPr>
            </a:p>
          </p:txBody>
        </p:sp>
      </p:grpSp>
      <p:sp>
        <p:nvSpPr>
          <p:cNvPr name="TextBox 14" id="14"/>
          <p:cNvSpPr txBox="true"/>
          <p:nvPr/>
        </p:nvSpPr>
        <p:spPr>
          <a:xfrm rot="0">
            <a:off x="1028700" y="4637831"/>
            <a:ext cx="11099246" cy="2692401"/>
          </a:xfrm>
          <a:prstGeom prst="rect">
            <a:avLst/>
          </a:prstGeom>
        </p:spPr>
        <p:txBody>
          <a:bodyPr anchor="t" rtlCol="false" tIns="0" lIns="0" bIns="0" rIns="0">
            <a:spAutoFit/>
          </a:bodyPr>
          <a:lstStyle/>
          <a:p>
            <a:pPr algn="l" marL="0" indent="0" lvl="0">
              <a:lnSpc>
                <a:spcPts val="10000"/>
              </a:lnSpc>
              <a:spcBef>
                <a:spcPct val="0"/>
              </a:spcBef>
            </a:pPr>
            <a:r>
              <a:rPr lang="en-US" sz="12500" spc="-1000">
                <a:solidFill>
                  <a:srgbClr val="F9F9F9"/>
                </a:solidFill>
                <a:latin typeface="Cy Grotesk V3 Key"/>
                <a:ea typeface="Cy Grotesk V3 Key"/>
                <a:cs typeface="Cy Grotesk V3 Key"/>
                <a:sym typeface="Cy Grotesk V3 Key"/>
              </a:rPr>
              <a:t>Chunking</a:t>
            </a:r>
          </a:p>
        </p:txBody>
      </p:sp>
      <p:sp>
        <p:nvSpPr>
          <p:cNvPr name="TextBox 15" id="15"/>
          <p:cNvSpPr txBox="true"/>
          <p:nvPr/>
        </p:nvSpPr>
        <p:spPr>
          <a:xfrm rot="0">
            <a:off x="1028700" y="7882853"/>
            <a:ext cx="7291346" cy="1331595"/>
          </a:xfrm>
          <a:prstGeom prst="rect">
            <a:avLst/>
          </a:prstGeom>
        </p:spPr>
        <p:txBody>
          <a:bodyPr anchor="t" rtlCol="false" tIns="0" lIns="0" bIns="0" rIns="0">
            <a:spAutoFit/>
          </a:bodyPr>
          <a:lstStyle/>
          <a:p>
            <a:pPr algn="l">
              <a:lnSpc>
                <a:spcPts val="2640"/>
              </a:lnSpc>
            </a:pPr>
            <a:r>
              <a:rPr lang="en-US" sz="1800" spc="-110">
                <a:solidFill>
                  <a:srgbClr val="FFFFFF"/>
                </a:solidFill>
                <a:latin typeface="HK Grotesk"/>
                <a:ea typeface="HK Grotesk"/>
                <a:cs typeface="HK Grotesk"/>
                <a:sym typeface="HK Grotesk"/>
              </a:rPr>
              <a:t>Four boundary detectors run over the recording and their evidence is fused. Where a signal produces no events at all its weight is redistributed across the signals that did fire, which is what prevents fixed-camera footage from returning as a single chunk.</a:t>
            </a:r>
          </a:p>
        </p:txBody>
      </p:sp>
      <p:sp>
        <p:nvSpPr>
          <p:cNvPr name="TextBox 16" id="16"/>
          <p:cNvSpPr txBox="true"/>
          <p:nvPr/>
        </p:nvSpPr>
        <p:spPr>
          <a:xfrm rot="0">
            <a:off x="10912792" y="3571610"/>
            <a:ext cx="6071251"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Speaker change from pyannote diarization, silence from Silero VAD, hard cuts from PySceneDetect, and semantic drift measured as cosine distance between OpenCLIP embeddings of consecutive frames sampled at 1 fps.</a:t>
            </a:r>
          </a:p>
        </p:txBody>
      </p:sp>
      <p:sp>
        <p:nvSpPr>
          <p:cNvPr name="TextBox 17" id="17"/>
          <p:cNvSpPr txBox="true"/>
          <p:nvPr/>
        </p:nvSpPr>
        <p:spPr>
          <a:xfrm rot="0">
            <a:off x="10912792" y="6770841"/>
            <a:ext cx="6071251"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Each event contributes a Gaussian bump of width 1 s to a score curve evaluated every 0.1 s. Peaks are taken greedily above a floor of 0.12 with 2 s minimum separation. Preset, custom-weight and fixed-interval modes are offered.</a:t>
            </a:r>
          </a:p>
        </p:txBody>
      </p:sp>
      <p:sp>
        <p:nvSpPr>
          <p:cNvPr name="TextBox 18" id="18"/>
          <p:cNvSpPr txBox="true"/>
          <p:nvPr/>
        </p:nvSpPr>
        <p:spPr>
          <a:xfrm rot="0">
            <a:off x="10926783" y="2843150"/>
            <a:ext cx="3691110" cy="508890"/>
          </a:xfrm>
          <a:prstGeom prst="rect">
            <a:avLst/>
          </a:prstGeom>
        </p:spPr>
        <p:txBody>
          <a:bodyPr anchor="t" rtlCol="false" tIns="0" lIns="0" bIns="0" rIns="0">
            <a:spAutoFit/>
          </a:bodyPr>
          <a:lstStyle/>
          <a:p>
            <a:pPr algn="l">
              <a:lnSpc>
                <a:spcPts val="4227"/>
              </a:lnSpc>
            </a:pPr>
            <a:r>
              <a:rPr lang="en-US" sz="2600" b="true">
                <a:solidFill>
                  <a:srgbClr val="FFFFFF"/>
                </a:solidFill>
                <a:latin typeface="HK Grotesk Bold"/>
                <a:ea typeface="HK Grotesk Bold"/>
                <a:cs typeface="HK Grotesk Bold"/>
                <a:sym typeface="HK Grotesk Bold"/>
              </a:rPr>
              <a:t>Boundary Detectors</a:t>
            </a:r>
          </a:p>
        </p:txBody>
      </p:sp>
      <p:sp>
        <p:nvSpPr>
          <p:cNvPr name="TextBox 19" id="19"/>
          <p:cNvSpPr txBox="true"/>
          <p:nvPr/>
        </p:nvSpPr>
        <p:spPr>
          <a:xfrm rot="0">
            <a:off x="10926783" y="6042381"/>
            <a:ext cx="3691110" cy="508890"/>
          </a:xfrm>
          <a:prstGeom prst="rect">
            <a:avLst/>
          </a:prstGeom>
        </p:spPr>
        <p:txBody>
          <a:bodyPr anchor="t" rtlCol="false" tIns="0" lIns="0" bIns="0" rIns="0">
            <a:spAutoFit/>
          </a:bodyPr>
          <a:lstStyle/>
          <a:p>
            <a:pPr algn="l">
              <a:lnSpc>
                <a:spcPts val="4227"/>
              </a:lnSpc>
            </a:pPr>
            <a:r>
              <a:rPr lang="en-US" sz="2600" b="true">
                <a:solidFill>
                  <a:srgbClr val="FFFFFF"/>
                </a:solidFill>
                <a:latin typeface="HK Grotesk Bold"/>
                <a:ea typeface="HK Grotesk Bold"/>
                <a:cs typeface="HK Grotesk Bold"/>
                <a:sym typeface="HK Grotesk Bold"/>
              </a:rPr>
              <a:t>Weighted Fusion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FalconVQA</a:t>
            </a:r>
          </a:p>
        </p:txBody>
      </p:sp>
      <p:sp>
        <p:nvSpPr>
          <p:cNvPr name="TextBox 10" id="1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Semantic Video Retrieval</a:t>
            </a:r>
          </a:p>
        </p:txBody>
      </p:sp>
      <p:grpSp>
        <p:nvGrpSpPr>
          <p:cNvPr name="Group 11" id="11"/>
          <p:cNvGrpSpPr/>
          <p:nvPr/>
        </p:nvGrpSpPr>
        <p:grpSpPr>
          <a:xfrm rot="0">
            <a:off x="1028700" y="2092849"/>
            <a:ext cx="16230600" cy="3944481"/>
            <a:chOff x="0" y="0"/>
            <a:chExt cx="4274726" cy="1038876"/>
          </a:xfrm>
        </p:grpSpPr>
        <p:sp>
          <p:nvSpPr>
            <p:cNvPr name="Freeform 12" id="12"/>
            <p:cNvSpPr/>
            <p:nvPr/>
          </p:nvSpPr>
          <p:spPr>
            <a:xfrm flipH="false" flipV="false" rot="0">
              <a:off x="0" y="0"/>
              <a:ext cx="4274726" cy="1038876"/>
            </a:xfrm>
            <a:custGeom>
              <a:avLst/>
              <a:gdLst/>
              <a:ahLst/>
              <a:cxnLst/>
              <a:rect r="r" b="b" t="t" l="l"/>
              <a:pathLst>
                <a:path h="1038876" w="4274726">
                  <a:moveTo>
                    <a:pt x="24327" y="0"/>
                  </a:moveTo>
                  <a:lnTo>
                    <a:pt x="4250399" y="0"/>
                  </a:lnTo>
                  <a:cubicBezTo>
                    <a:pt x="4263834" y="0"/>
                    <a:pt x="4274726" y="10891"/>
                    <a:pt x="4274726" y="24327"/>
                  </a:cubicBezTo>
                  <a:lnTo>
                    <a:pt x="4274726" y="1014549"/>
                  </a:lnTo>
                  <a:cubicBezTo>
                    <a:pt x="4274726" y="1027984"/>
                    <a:pt x="4263834" y="1038876"/>
                    <a:pt x="4250399" y="1038876"/>
                  </a:cubicBezTo>
                  <a:lnTo>
                    <a:pt x="24327" y="1038876"/>
                  </a:lnTo>
                  <a:cubicBezTo>
                    <a:pt x="10891" y="1038876"/>
                    <a:pt x="0" y="1027984"/>
                    <a:pt x="0" y="1014549"/>
                  </a:cubicBezTo>
                  <a:lnTo>
                    <a:pt x="0" y="24327"/>
                  </a:lnTo>
                  <a:cubicBezTo>
                    <a:pt x="0" y="10891"/>
                    <a:pt x="10891" y="0"/>
                    <a:pt x="24327"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3" id="13"/>
            <p:cNvSpPr txBox="true"/>
            <p:nvPr/>
          </p:nvSpPr>
          <p:spPr>
            <a:xfrm>
              <a:off x="0" y="-66675"/>
              <a:ext cx="4274726" cy="1105551"/>
            </a:xfrm>
            <a:prstGeom prst="rect">
              <a:avLst/>
            </a:prstGeom>
          </p:spPr>
          <p:txBody>
            <a:bodyPr anchor="ctr" rtlCol="false" tIns="50800" lIns="50800" bIns="50800" rIns="50800"/>
            <a:lstStyle/>
            <a:p>
              <a:pPr algn="ctr">
                <a:lnSpc>
                  <a:spcPts val="3638"/>
                </a:lnSpc>
              </a:pPr>
            </a:p>
          </p:txBody>
        </p:sp>
      </p:grpSp>
      <p:sp>
        <p:nvSpPr>
          <p:cNvPr name="TextBox 14" id="14"/>
          <p:cNvSpPr txBox="true"/>
          <p:nvPr/>
        </p:nvSpPr>
        <p:spPr>
          <a:xfrm rot="0">
            <a:off x="1307554" y="2871289"/>
            <a:ext cx="10946804" cy="2692401"/>
          </a:xfrm>
          <a:prstGeom prst="rect">
            <a:avLst/>
          </a:prstGeom>
        </p:spPr>
        <p:txBody>
          <a:bodyPr anchor="t" rtlCol="false" tIns="0" lIns="0" bIns="0" rIns="0">
            <a:spAutoFit/>
          </a:bodyPr>
          <a:lstStyle/>
          <a:p>
            <a:pPr algn="l" marL="0" indent="0" lvl="0">
              <a:lnSpc>
                <a:spcPts val="10000"/>
              </a:lnSpc>
              <a:spcBef>
                <a:spcPct val="0"/>
              </a:spcBef>
            </a:pPr>
            <a:r>
              <a:rPr lang="en-US" sz="8800" spc="-1000">
                <a:solidFill>
                  <a:srgbClr val="F9F9F9"/>
                </a:solidFill>
                <a:latin typeface="Cy Grotesk V3 Key"/>
                <a:ea typeface="Cy Grotesk V3 Key"/>
                <a:cs typeface="Cy Grotesk V3 Key"/>
                <a:sym typeface="Cy Grotesk V3 Key"/>
              </a:rPr>
              <a:t>Functional</a:t>
            </a:r>
          </a:p>
        </p:txBody>
      </p:sp>
      <p:sp>
        <p:nvSpPr>
          <p:cNvPr name="TextBox 15" id="15"/>
          <p:cNvSpPr txBox="true"/>
          <p:nvPr/>
        </p:nvSpPr>
        <p:spPr>
          <a:xfrm rot="0">
            <a:off x="1307554" y="6846955"/>
            <a:ext cx="13387005" cy="2692401"/>
          </a:xfrm>
          <a:prstGeom prst="rect">
            <a:avLst/>
          </a:prstGeom>
        </p:spPr>
        <p:txBody>
          <a:bodyPr anchor="t" rtlCol="false" tIns="0" lIns="0" bIns="0" rIns="0">
            <a:spAutoFit/>
          </a:bodyPr>
          <a:lstStyle/>
          <a:p>
            <a:pPr algn="l" marL="0" indent="0" lvl="0">
              <a:lnSpc>
                <a:spcPts val="10000"/>
              </a:lnSpc>
              <a:spcBef>
                <a:spcPct val="0"/>
              </a:spcBef>
            </a:pPr>
            <a:r>
              <a:rPr lang="en-US" sz="8800" spc="-1000">
                <a:solidFill>
                  <a:srgbClr val="F9F9F9"/>
                </a:solidFill>
                <a:latin typeface="Cy Grotesk V3 Key"/>
                <a:ea typeface="Cy Grotesk V3 Key"/>
                <a:cs typeface="Cy Grotesk V3 Key"/>
                <a:sym typeface="Cy Grotesk V3 Key"/>
              </a:rPr>
              <a:t>Non-Functional</a:t>
            </a:r>
          </a:p>
        </p:txBody>
      </p:sp>
      <p:sp>
        <p:nvSpPr>
          <p:cNvPr name="TextBox 16" id="16"/>
          <p:cNvSpPr txBox="true"/>
          <p:nvPr/>
        </p:nvSpPr>
        <p:spPr>
          <a:xfrm rot="0">
            <a:off x="10217738" y="2843693"/>
            <a:ext cx="6772563"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Register and organise recordings into projects; add footage by file or by link and choose how thoroughly it is examined; observe stage and progress per recording.</a:t>
            </a:r>
          </a:p>
        </p:txBody>
      </p:sp>
      <p:sp>
        <p:nvSpPr>
          <p:cNvPr name="TextBox 17" id="17"/>
          <p:cNvSpPr txBox="true"/>
          <p:nvPr/>
        </p:nvSpPr>
        <p:spPr>
          <a:xfrm rot="0">
            <a:off x="10217738" y="6819360"/>
            <a:ext cx="6772563"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A search returns within 2 s and a question within 15 s. A recording becomes searchable within roughly three times its own duration while the operator continues working.</a:t>
            </a:r>
          </a:p>
        </p:txBody>
      </p:sp>
      <p:sp>
        <p:nvSpPr>
          <p:cNvPr name="TextBox 18" id="18"/>
          <p:cNvSpPr txBox="true"/>
          <p:nvPr/>
        </p:nvSpPr>
        <p:spPr>
          <a:xfrm rot="0">
            <a:off x="10217738" y="4145829"/>
            <a:ext cx="6772563"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Search by description; filter by time, people, objects and speech; ask questions and receive cited answers; play any result from its timecode; drive it all over an HTTP API.</a:t>
            </a:r>
          </a:p>
        </p:txBody>
      </p:sp>
      <p:sp>
        <p:nvSpPr>
          <p:cNvPr name="TextBox 19" id="19"/>
          <p:cNvSpPr txBox="true"/>
          <p:nvPr/>
        </p:nvSpPr>
        <p:spPr>
          <a:xfrm rot="0">
            <a:off x="10217738" y="8121495"/>
            <a:ext cx="6772563"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Unedited, silent, fixed-camera footage is the normal case. Every answer cites its sources or states that none exists. Recordings are readable only by the account that owns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90188" y="2176659"/>
            <a:ext cx="17907623" cy="1317624"/>
          </a:xfrm>
          <a:prstGeom prst="rect">
            <a:avLst/>
          </a:prstGeom>
        </p:spPr>
        <p:txBody>
          <a:bodyPr anchor="t" rtlCol="false" tIns="0" lIns="0" bIns="0" rIns="0">
            <a:spAutoFit/>
          </a:bodyPr>
          <a:lstStyle/>
          <a:p>
            <a:pPr algn="ctr" marL="0" indent="0" lvl="0">
              <a:lnSpc>
                <a:spcPts val="9199"/>
              </a:lnSpc>
              <a:spcBef>
                <a:spcPct val="0"/>
              </a:spcBef>
            </a:pPr>
            <a:r>
              <a:rPr lang="en-US" sz="11499" spc="-919">
                <a:solidFill>
                  <a:srgbClr val="F9F9F9"/>
                </a:solidFill>
                <a:latin typeface="Cy Grotesk V3 Key"/>
                <a:ea typeface="Cy Grotesk V3 Key"/>
                <a:cs typeface="Cy Grotesk V3 Key"/>
                <a:sym typeface="Cy Grotesk V3 Key"/>
              </a:rPr>
              <a:t>Technology Stack</a:t>
            </a:r>
          </a:p>
        </p:txBody>
      </p:sp>
      <p:sp>
        <p:nvSpPr>
          <p:cNvPr name="TextBox 10" id="10"/>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FalconVQA</a:t>
            </a:r>
          </a:p>
        </p:txBody>
      </p:sp>
      <p:sp>
        <p:nvSpPr>
          <p:cNvPr name="TextBox 11" id="11"/>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Semantic Video Retrieval</a:t>
            </a:r>
          </a:p>
        </p:txBody>
      </p:sp>
      <p:sp>
        <p:nvSpPr>
          <p:cNvPr name="TextBox 12" id="12"/>
          <p:cNvSpPr txBox="true"/>
          <p:nvPr/>
        </p:nvSpPr>
        <p:spPr>
          <a:xfrm rot="0">
            <a:off x="1811283" y="5561561"/>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Next.js 16, React 19, TypeScript and Tailwind CSS v4 with shadcn/ui. Zustand and TanStack Query for state, video.js and hls.js for playback, and the Vercel AI SDK v6 for the streaming agent tool loop.</a:t>
            </a:r>
          </a:p>
        </p:txBody>
      </p:sp>
      <p:sp>
        <p:nvSpPr>
          <p:cNvPr name="TextBox 13" id="13"/>
          <p:cNvSpPr txBox="true"/>
          <p:nvPr/>
        </p:nvSpPr>
        <p:spPr>
          <a:xfrm rot="0">
            <a:off x="9977311" y="5561561"/>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Python 3.13, FastAPI and Uvicorn expose the pipeline as a self-describing HTTP API. PyTorch 2.11 on CUDA 13 with Transformers provides the model runtime, on an 8 GB CUDA-capable GPU.</a:t>
            </a:r>
          </a:p>
        </p:txBody>
      </p:sp>
      <p:sp>
        <p:nvSpPr>
          <p:cNvPr name="TextBox 14" id="14"/>
          <p:cNvSpPr txBox="true"/>
          <p:nvPr/>
        </p:nvSpPr>
        <p:spPr>
          <a:xfrm rot="0">
            <a:off x="1811283" y="7713058"/>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pyannote, Silero VAD, PySceneDetect and OpenCLIP for boundaries; a vision-language model, faster-whisper, YOLO11 and EasyOCR for analysis; GLiNER and BGE-small for aggregation and embedding.</a:t>
            </a:r>
          </a:p>
        </p:txBody>
      </p:sp>
      <p:sp>
        <p:nvSpPr>
          <p:cNvPr name="TextBox 15" id="15"/>
          <p:cNvSpPr txBox="true"/>
          <p:nvPr/>
        </p:nvSpPr>
        <p:spPr>
          <a:xfrm rot="0">
            <a:off x="9977311" y="7713058"/>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Qdrant stores one point per chunk with five named vectors. Supabase provides Postgres, authentication with row-level security, and object storage. Vercel hosts the client, a CUDA host the service.</a:t>
            </a:r>
          </a:p>
        </p:txBody>
      </p:sp>
      <p:sp>
        <p:nvSpPr>
          <p:cNvPr name="TextBox 16" id="16"/>
          <p:cNvSpPr txBox="true"/>
          <p:nvPr/>
        </p:nvSpPr>
        <p:spPr>
          <a:xfrm rot="0">
            <a:off x="1811283" y="4726799"/>
            <a:ext cx="2731129" cy="721995"/>
          </a:xfrm>
          <a:prstGeom prst="rect">
            <a:avLst/>
          </a:prstGeom>
        </p:spPr>
        <p:txBody>
          <a:bodyPr anchor="t" rtlCol="false" tIns="0" lIns="0" bIns="0" rIns="0">
            <a:spAutoFit/>
          </a:bodyPr>
          <a:lstStyle/>
          <a:p>
            <a:pPr algn="l">
              <a:lnSpc>
                <a:spcPts val="5880"/>
              </a:lnSpc>
            </a:pPr>
            <a:r>
              <a:rPr lang="en-US" b="true" sz="3400" spc="-147">
                <a:solidFill>
                  <a:srgbClr val="8ADCFF"/>
                </a:solidFill>
                <a:latin typeface="HK Grotesk Bold"/>
                <a:ea typeface="HK Grotesk Bold"/>
                <a:cs typeface="HK Grotesk Bold"/>
                <a:sym typeface="HK Grotesk Bold"/>
              </a:rPr>
              <a:t>Frontend</a:t>
            </a:r>
          </a:p>
        </p:txBody>
      </p:sp>
      <p:sp>
        <p:nvSpPr>
          <p:cNvPr name="TextBox 17" id="17"/>
          <p:cNvSpPr txBox="true"/>
          <p:nvPr/>
        </p:nvSpPr>
        <p:spPr>
          <a:xfrm rot="0">
            <a:off x="9977311" y="4726799"/>
            <a:ext cx="2731129" cy="721995"/>
          </a:xfrm>
          <a:prstGeom prst="rect">
            <a:avLst/>
          </a:prstGeom>
        </p:spPr>
        <p:txBody>
          <a:bodyPr anchor="t" rtlCol="false" tIns="0" lIns="0" bIns="0" rIns="0">
            <a:spAutoFit/>
          </a:bodyPr>
          <a:lstStyle/>
          <a:p>
            <a:pPr algn="l">
              <a:lnSpc>
                <a:spcPts val="5880"/>
              </a:lnSpc>
            </a:pPr>
            <a:r>
              <a:rPr lang="en-US" b="true" sz="3400" spc="-147">
                <a:solidFill>
                  <a:srgbClr val="8ADCFF"/>
                </a:solidFill>
                <a:latin typeface="HK Grotesk Bold"/>
                <a:ea typeface="HK Grotesk Bold"/>
                <a:cs typeface="HK Grotesk Bold"/>
                <a:sym typeface="HK Grotesk Bold"/>
              </a:rPr>
              <a:t>Backend</a:t>
            </a:r>
          </a:p>
        </p:txBody>
      </p:sp>
      <p:sp>
        <p:nvSpPr>
          <p:cNvPr name="TextBox 18" id="18"/>
          <p:cNvSpPr txBox="true"/>
          <p:nvPr/>
        </p:nvSpPr>
        <p:spPr>
          <a:xfrm rot="0">
            <a:off x="1811283" y="6862537"/>
            <a:ext cx="2731129" cy="721995"/>
          </a:xfrm>
          <a:prstGeom prst="rect">
            <a:avLst/>
          </a:prstGeom>
        </p:spPr>
        <p:txBody>
          <a:bodyPr anchor="t" rtlCol="false" tIns="0" lIns="0" bIns="0" rIns="0">
            <a:spAutoFit/>
          </a:bodyPr>
          <a:lstStyle/>
          <a:p>
            <a:pPr algn="l">
              <a:lnSpc>
                <a:spcPts val="5880"/>
              </a:lnSpc>
            </a:pPr>
            <a:r>
              <a:rPr lang="en-US" b="true" sz="3400" spc="-147">
                <a:solidFill>
                  <a:srgbClr val="8ADCFF"/>
                </a:solidFill>
                <a:latin typeface="HK Grotesk Bold"/>
                <a:ea typeface="HK Grotesk Bold"/>
                <a:cs typeface="HK Grotesk Bold"/>
                <a:sym typeface="HK Grotesk Bold"/>
              </a:rPr>
              <a:t>Models</a:t>
            </a:r>
          </a:p>
        </p:txBody>
      </p:sp>
      <p:sp>
        <p:nvSpPr>
          <p:cNvPr name="TextBox 19" id="19"/>
          <p:cNvSpPr txBox="true"/>
          <p:nvPr/>
        </p:nvSpPr>
        <p:spPr>
          <a:xfrm rot="0">
            <a:off x="9977311" y="6862537"/>
            <a:ext cx="2731129" cy="721995"/>
          </a:xfrm>
          <a:prstGeom prst="rect">
            <a:avLst/>
          </a:prstGeom>
        </p:spPr>
        <p:txBody>
          <a:bodyPr anchor="t" rtlCol="false" tIns="0" lIns="0" bIns="0" rIns="0">
            <a:spAutoFit/>
          </a:bodyPr>
          <a:lstStyle/>
          <a:p>
            <a:pPr algn="l">
              <a:lnSpc>
                <a:spcPts val="5880"/>
              </a:lnSpc>
            </a:pPr>
            <a:r>
              <a:rPr lang="en-US" b="true" sz="3400" spc="-147">
                <a:solidFill>
                  <a:srgbClr val="8ADCFF"/>
                </a:solidFill>
                <a:latin typeface="HK Grotesk Bold"/>
                <a:ea typeface="HK Grotesk Bold"/>
                <a:cs typeface="HK Grotesk Bold"/>
                <a:sym typeface="HK Grotesk Bold"/>
              </a:rPr>
              <a:t>Data</a:t>
            </a:r>
          </a:p>
        </p:txBody>
      </p:sp>
      <p:grpSp>
        <p:nvGrpSpPr>
          <p:cNvPr name="Group 20" id="20"/>
          <p:cNvGrpSpPr/>
          <p:nvPr/>
        </p:nvGrpSpPr>
        <p:grpSpPr>
          <a:xfrm rot="0">
            <a:off x="1307554" y="4676673"/>
            <a:ext cx="198488" cy="4249299"/>
            <a:chOff x="0" y="0"/>
            <a:chExt cx="52277" cy="1119157"/>
          </a:xfrm>
        </p:grpSpPr>
        <p:sp>
          <p:nvSpPr>
            <p:cNvPr name="Freeform 21" id="21"/>
            <p:cNvSpPr/>
            <p:nvPr/>
          </p:nvSpPr>
          <p:spPr>
            <a:xfrm flipH="false" flipV="false" rot="0">
              <a:off x="0" y="0"/>
              <a:ext cx="52277" cy="1119157"/>
            </a:xfrm>
            <a:custGeom>
              <a:avLst/>
              <a:gdLst/>
              <a:ahLst/>
              <a:cxnLst/>
              <a:rect r="r" b="b" t="t" l="l"/>
              <a:pathLst>
                <a:path h="1119157" w="52277">
                  <a:moveTo>
                    <a:pt x="26138" y="0"/>
                  </a:moveTo>
                  <a:lnTo>
                    <a:pt x="26138" y="0"/>
                  </a:lnTo>
                  <a:cubicBezTo>
                    <a:pt x="40574" y="0"/>
                    <a:pt x="52277" y="11703"/>
                    <a:pt x="52277" y="26138"/>
                  </a:cubicBezTo>
                  <a:lnTo>
                    <a:pt x="52277" y="1093019"/>
                  </a:lnTo>
                  <a:cubicBezTo>
                    <a:pt x="52277" y="1099951"/>
                    <a:pt x="49523" y="1106599"/>
                    <a:pt x="44621" y="1111501"/>
                  </a:cubicBezTo>
                  <a:cubicBezTo>
                    <a:pt x="39719" y="1116403"/>
                    <a:pt x="33071" y="1119157"/>
                    <a:pt x="26138" y="1119157"/>
                  </a:cubicBezTo>
                  <a:lnTo>
                    <a:pt x="26138" y="1119157"/>
                  </a:lnTo>
                  <a:cubicBezTo>
                    <a:pt x="19206" y="1119157"/>
                    <a:pt x="12558" y="1116403"/>
                    <a:pt x="7656" y="1111501"/>
                  </a:cubicBezTo>
                  <a:cubicBezTo>
                    <a:pt x="2754" y="1106599"/>
                    <a:pt x="0" y="1099951"/>
                    <a:pt x="0" y="1093019"/>
                  </a:cubicBezTo>
                  <a:lnTo>
                    <a:pt x="0" y="26138"/>
                  </a:lnTo>
                  <a:cubicBezTo>
                    <a:pt x="0" y="19206"/>
                    <a:pt x="2754" y="12558"/>
                    <a:pt x="7656" y="7656"/>
                  </a:cubicBezTo>
                  <a:cubicBezTo>
                    <a:pt x="12558" y="2754"/>
                    <a:pt x="19206" y="0"/>
                    <a:pt x="26138"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2" id="22"/>
            <p:cNvSpPr txBox="true"/>
            <p:nvPr/>
          </p:nvSpPr>
          <p:spPr>
            <a:xfrm>
              <a:off x="0" y="-66675"/>
              <a:ext cx="52277" cy="1185832"/>
            </a:xfrm>
            <a:prstGeom prst="rect">
              <a:avLst/>
            </a:prstGeom>
          </p:spPr>
          <p:txBody>
            <a:bodyPr anchor="ctr" rtlCol="false" tIns="50800" lIns="50800" bIns="50800" rIns="50800"/>
            <a:lstStyle/>
            <a:p>
              <a:pPr algn="ctr">
                <a:lnSpc>
                  <a:spcPts val="3638"/>
                </a:lnSpc>
              </a:pPr>
            </a:p>
          </p:txBody>
        </p:sp>
      </p:grpSp>
      <p:grpSp>
        <p:nvGrpSpPr>
          <p:cNvPr name="Group 23" id="23"/>
          <p:cNvGrpSpPr/>
          <p:nvPr/>
        </p:nvGrpSpPr>
        <p:grpSpPr>
          <a:xfrm rot="0">
            <a:off x="9473583" y="4676673"/>
            <a:ext cx="198488" cy="4249299"/>
            <a:chOff x="0" y="0"/>
            <a:chExt cx="52277" cy="1119157"/>
          </a:xfrm>
        </p:grpSpPr>
        <p:sp>
          <p:nvSpPr>
            <p:cNvPr name="Freeform 24" id="24"/>
            <p:cNvSpPr/>
            <p:nvPr/>
          </p:nvSpPr>
          <p:spPr>
            <a:xfrm flipH="false" flipV="false" rot="0">
              <a:off x="0" y="0"/>
              <a:ext cx="52277" cy="1119157"/>
            </a:xfrm>
            <a:custGeom>
              <a:avLst/>
              <a:gdLst/>
              <a:ahLst/>
              <a:cxnLst/>
              <a:rect r="r" b="b" t="t" l="l"/>
              <a:pathLst>
                <a:path h="1119157" w="52277">
                  <a:moveTo>
                    <a:pt x="26138" y="0"/>
                  </a:moveTo>
                  <a:lnTo>
                    <a:pt x="26138" y="0"/>
                  </a:lnTo>
                  <a:cubicBezTo>
                    <a:pt x="40574" y="0"/>
                    <a:pt x="52277" y="11703"/>
                    <a:pt x="52277" y="26138"/>
                  </a:cubicBezTo>
                  <a:lnTo>
                    <a:pt x="52277" y="1093019"/>
                  </a:lnTo>
                  <a:cubicBezTo>
                    <a:pt x="52277" y="1099951"/>
                    <a:pt x="49523" y="1106599"/>
                    <a:pt x="44621" y="1111501"/>
                  </a:cubicBezTo>
                  <a:cubicBezTo>
                    <a:pt x="39719" y="1116403"/>
                    <a:pt x="33071" y="1119157"/>
                    <a:pt x="26138" y="1119157"/>
                  </a:cubicBezTo>
                  <a:lnTo>
                    <a:pt x="26138" y="1119157"/>
                  </a:lnTo>
                  <a:cubicBezTo>
                    <a:pt x="19206" y="1119157"/>
                    <a:pt x="12558" y="1116403"/>
                    <a:pt x="7656" y="1111501"/>
                  </a:cubicBezTo>
                  <a:cubicBezTo>
                    <a:pt x="2754" y="1106599"/>
                    <a:pt x="0" y="1099951"/>
                    <a:pt x="0" y="1093019"/>
                  </a:cubicBezTo>
                  <a:lnTo>
                    <a:pt x="0" y="26138"/>
                  </a:lnTo>
                  <a:cubicBezTo>
                    <a:pt x="0" y="19206"/>
                    <a:pt x="2754" y="12558"/>
                    <a:pt x="7656" y="7656"/>
                  </a:cubicBezTo>
                  <a:cubicBezTo>
                    <a:pt x="12558" y="2754"/>
                    <a:pt x="19206" y="0"/>
                    <a:pt x="26138"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5" id="25"/>
            <p:cNvSpPr txBox="true"/>
            <p:nvPr/>
          </p:nvSpPr>
          <p:spPr>
            <a:xfrm>
              <a:off x="0" y="-66675"/>
              <a:ext cx="52277" cy="1185832"/>
            </a:xfrm>
            <a:prstGeom prst="rect">
              <a:avLst/>
            </a:prstGeom>
          </p:spPr>
          <p:txBody>
            <a:bodyPr anchor="ctr" rtlCol="false" tIns="50800" lIns="50800" bIns="50800" rIns="50800"/>
            <a:lstStyle/>
            <a:p>
              <a:pPr algn="ctr">
                <a:lnSpc>
                  <a:spcPts val="3638"/>
                </a:lnSpc>
              </a:pPr>
            </a:p>
          </p:txBody>
        </p:sp>
      </p:gr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90188" y="2176659"/>
            <a:ext cx="17907623" cy="1317624"/>
          </a:xfrm>
          <a:prstGeom prst="rect">
            <a:avLst/>
          </a:prstGeom>
        </p:spPr>
        <p:txBody>
          <a:bodyPr anchor="t" rtlCol="false" tIns="0" lIns="0" bIns="0" rIns="0">
            <a:spAutoFit/>
          </a:bodyPr>
          <a:lstStyle/>
          <a:p>
            <a:pPr algn="ctr" marL="0" indent="0" lvl="0">
              <a:lnSpc>
                <a:spcPts val="9199"/>
              </a:lnSpc>
              <a:spcBef>
                <a:spcPct val="0"/>
              </a:spcBef>
            </a:pPr>
            <a:r>
              <a:rPr lang="en-US" sz="11499" spc="-919">
                <a:solidFill>
                  <a:srgbClr val="F9F9F9"/>
                </a:solidFill>
                <a:latin typeface="Cy Grotesk V3 Key"/>
                <a:ea typeface="Cy Grotesk V3 Key"/>
                <a:cs typeface="Cy Grotesk V3 Key"/>
                <a:sym typeface="Cy Grotesk V3 Key"/>
              </a:rPr>
              <a:t>Database Design</a:t>
            </a:r>
          </a:p>
        </p:txBody>
      </p:sp>
      <p:sp>
        <p:nvSpPr>
          <p:cNvPr name="TextBox 10" id="10"/>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FalconVQA</a:t>
            </a:r>
          </a:p>
        </p:txBody>
      </p:sp>
      <p:sp>
        <p:nvSpPr>
          <p:cNvPr name="TextBox 11" id="11"/>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Semantic Video Retrieval</a:t>
            </a:r>
          </a:p>
        </p:txBody>
      </p:sp>
      <p:sp>
        <p:nvSpPr>
          <p:cNvPr name="TextBox 12" id="12"/>
          <p:cNvSpPr txBox="true"/>
          <p:nvPr/>
        </p:nvSpPr>
        <p:spPr>
          <a:xfrm rot="0">
            <a:off x="1811283" y="5561561"/>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Accounts, projects, the recording registry, conversations and messages. Every relationship cascades on delete, and row-level security tests the owner on each relation, messages through their parent conversation.</a:t>
            </a:r>
          </a:p>
        </p:txBody>
      </p:sp>
      <p:sp>
        <p:nvSpPr>
          <p:cNvPr name="TextBox 13" id="13"/>
          <p:cNvSpPr txBox="true"/>
          <p:nvPr/>
        </p:nvSpPr>
        <p:spPr>
          <a:xfrm rot="0">
            <a:off x="9977311" y="5561561"/>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Two buckets hold the uploaded bytes, the canonical copy the pipeline reads under the content hash, and one poster frame per recording, so a listing never decodes video to draw a thumbnail.</a:t>
            </a:r>
          </a:p>
        </p:txBody>
      </p:sp>
      <p:sp>
        <p:nvSpPr>
          <p:cNvPr name="TextBox 14" id="14"/>
          <p:cNvSpPr txBox="true"/>
          <p:nvPr/>
        </p:nvSpPr>
        <p:spPr>
          <a:xfrm rot="0">
            <a:off x="1811283" y="7713058"/>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One JSON document per recording holds the chunk array with one key per analyzer that produced output, plus the chunking scheme and cached aggregates. A gated-out analyzer contributes no key rather than a null.</a:t>
            </a:r>
          </a:p>
        </p:txBody>
      </p:sp>
      <p:sp>
        <p:nvSpPr>
          <p:cNvPr name="TextBox 15" id="15"/>
          <p:cNvSpPr txBox="true"/>
          <p:nvPr/>
        </p:nvSpPr>
        <p:spPr>
          <a:xfrm rot="0">
            <a:off x="9977311" y="7713058"/>
            <a:ext cx="7088577" cy="1014984"/>
          </a:xfrm>
          <a:prstGeom prst="rect">
            <a:avLst/>
          </a:prstGeom>
        </p:spPr>
        <p:txBody>
          <a:bodyPr anchor="t" rtlCol="false" tIns="0" lIns="0" bIns="0" rIns="0">
            <a:spAutoFit/>
          </a:bodyPr>
          <a:lstStyle/>
          <a:p>
            <a:pPr algn="l">
              <a:lnSpc>
                <a:spcPts val="2718"/>
              </a:lnSpc>
            </a:pPr>
            <a:r>
              <a:rPr lang="en-US" sz="1800" spc="-64">
                <a:solidFill>
                  <a:srgbClr val="FFFFFF"/>
                </a:solidFill>
                <a:latin typeface="HK Grotesk Light"/>
                <a:ea typeface="HK Grotesk Light"/>
                <a:cs typeface="HK Grotesk Light"/>
                <a:sym typeface="HK Grotesk Light"/>
              </a:rPr>
              <a:t>One collection, one point per recording, analyzer, chunk span and chunk configuration. Each point carries five 384-dimensional vectors and a payload sufficient to rank, filter and cite without joining back.</a:t>
            </a:r>
          </a:p>
        </p:txBody>
      </p:sp>
      <p:sp>
        <p:nvSpPr>
          <p:cNvPr name="TextBox 16" id="16"/>
          <p:cNvSpPr txBox="true"/>
          <p:nvPr/>
        </p:nvSpPr>
        <p:spPr>
          <a:xfrm rot="0">
            <a:off x="1811283" y="4726799"/>
            <a:ext cx="2731129" cy="721995"/>
          </a:xfrm>
          <a:prstGeom prst="rect">
            <a:avLst/>
          </a:prstGeom>
        </p:spPr>
        <p:txBody>
          <a:bodyPr anchor="t" rtlCol="false" tIns="0" lIns="0" bIns="0" rIns="0">
            <a:spAutoFit/>
          </a:bodyPr>
          <a:lstStyle/>
          <a:p>
            <a:pPr algn="l">
              <a:lnSpc>
                <a:spcPts val="5880"/>
              </a:lnSpc>
            </a:pPr>
            <a:r>
              <a:rPr lang="en-US" b="true" sz="3400" spc="-147">
                <a:solidFill>
                  <a:srgbClr val="8ADCFF"/>
                </a:solidFill>
                <a:latin typeface="HK Grotesk Bold"/>
                <a:ea typeface="HK Grotesk Bold"/>
                <a:cs typeface="HK Grotesk Bold"/>
                <a:sym typeface="HK Grotesk Bold"/>
              </a:rPr>
              <a:t>Postgres</a:t>
            </a:r>
          </a:p>
        </p:txBody>
      </p:sp>
      <p:sp>
        <p:nvSpPr>
          <p:cNvPr name="TextBox 17" id="17"/>
          <p:cNvSpPr txBox="true"/>
          <p:nvPr/>
        </p:nvSpPr>
        <p:spPr>
          <a:xfrm rot="0">
            <a:off x="9977311" y="4726799"/>
            <a:ext cx="2731129" cy="721995"/>
          </a:xfrm>
          <a:prstGeom prst="rect">
            <a:avLst/>
          </a:prstGeom>
        </p:spPr>
        <p:txBody>
          <a:bodyPr anchor="t" rtlCol="false" tIns="0" lIns="0" bIns="0" rIns="0">
            <a:spAutoFit/>
          </a:bodyPr>
          <a:lstStyle/>
          <a:p>
            <a:pPr algn="l">
              <a:lnSpc>
                <a:spcPts val="5880"/>
              </a:lnSpc>
            </a:pPr>
            <a:r>
              <a:rPr lang="en-US" b="true" sz="3400" spc="-147">
                <a:solidFill>
                  <a:srgbClr val="8ADCFF"/>
                </a:solidFill>
                <a:latin typeface="HK Grotesk Bold"/>
                <a:ea typeface="HK Grotesk Bold"/>
                <a:cs typeface="HK Grotesk Bold"/>
                <a:sym typeface="HK Grotesk Bold"/>
              </a:rPr>
              <a:t>Storage</a:t>
            </a:r>
          </a:p>
        </p:txBody>
      </p:sp>
      <p:sp>
        <p:nvSpPr>
          <p:cNvPr name="TextBox 18" id="18"/>
          <p:cNvSpPr txBox="true"/>
          <p:nvPr/>
        </p:nvSpPr>
        <p:spPr>
          <a:xfrm rot="0">
            <a:off x="1811283" y="6862537"/>
            <a:ext cx="2731129" cy="721995"/>
          </a:xfrm>
          <a:prstGeom prst="rect">
            <a:avLst/>
          </a:prstGeom>
        </p:spPr>
        <p:txBody>
          <a:bodyPr anchor="t" rtlCol="false" tIns="0" lIns="0" bIns="0" rIns="0">
            <a:spAutoFit/>
          </a:bodyPr>
          <a:lstStyle/>
          <a:p>
            <a:pPr algn="l">
              <a:lnSpc>
                <a:spcPts val="5880"/>
              </a:lnSpc>
            </a:pPr>
            <a:r>
              <a:rPr lang="en-US" b="true" sz="3400" spc="-147">
                <a:solidFill>
                  <a:srgbClr val="8ADCFF"/>
                </a:solidFill>
                <a:latin typeface="HK Grotesk Bold"/>
                <a:ea typeface="HK Grotesk Bold"/>
                <a:cs typeface="HK Grotesk Bold"/>
                <a:sym typeface="HK Grotesk Bold"/>
              </a:rPr>
              <a:t>Records</a:t>
            </a:r>
          </a:p>
        </p:txBody>
      </p:sp>
      <p:sp>
        <p:nvSpPr>
          <p:cNvPr name="TextBox 19" id="19"/>
          <p:cNvSpPr txBox="true"/>
          <p:nvPr/>
        </p:nvSpPr>
        <p:spPr>
          <a:xfrm rot="0">
            <a:off x="9977311" y="6862537"/>
            <a:ext cx="2731129" cy="721995"/>
          </a:xfrm>
          <a:prstGeom prst="rect">
            <a:avLst/>
          </a:prstGeom>
        </p:spPr>
        <p:txBody>
          <a:bodyPr anchor="t" rtlCol="false" tIns="0" lIns="0" bIns="0" rIns="0">
            <a:spAutoFit/>
          </a:bodyPr>
          <a:lstStyle/>
          <a:p>
            <a:pPr algn="l">
              <a:lnSpc>
                <a:spcPts val="5880"/>
              </a:lnSpc>
            </a:pPr>
            <a:r>
              <a:rPr lang="en-US" b="true" sz="3400" spc="-147">
                <a:solidFill>
                  <a:srgbClr val="8ADCFF"/>
                </a:solidFill>
                <a:latin typeface="HK Grotesk Bold"/>
                <a:ea typeface="HK Grotesk Bold"/>
                <a:cs typeface="HK Grotesk Bold"/>
                <a:sym typeface="HK Grotesk Bold"/>
              </a:rPr>
              <a:t>Qdrant</a:t>
            </a:r>
          </a:p>
        </p:txBody>
      </p:sp>
      <p:grpSp>
        <p:nvGrpSpPr>
          <p:cNvPr name="Group 20" id="20"/>
          <p:cNvGrpSpPr/>
          <p:nvPr/>
        </p:nvGrpSpPr>
        <p:grpSpPr>
          <a:xfrm rot="0">
            <a:off x="1307554" y="4676673"/>
            <a:ext cx="198488" cy="4249299"/>
            <a:chOff x="0" y="0"/>
            <a:chExt cx="52277" cy="1119157"/>
          </a:xfrm>
        </p:grpSpPr>
        <p:sp>
          <p:nvSpPr>
            <p:cNvPr name="Freeform 21" id="21"/>
            <p:cNvSpPr/>
            <p:nvPr/>
          </p:nvSpPr>
          <p:spPr>
            <a:xfrm flipH="false" flipV="false" rot="0">
              <a:off x="0" y="0"/>
              <a:ext cx="52277" cy="1119157"/>
            </a:xfrm>
            <a:custGeom>
              <a:avLst/>
              <a:gdLst/>
              <a:ahLst/>
              <a:cxnLst/>
              <a:rect r="r" b="b" t="t" l="l"/>
              <a:pathLst>
                <a:path h="1119157" w="52277">
                  <a:moveTo>
                    <a:pt x="26138" y="0"/>
                  </a:moveTo>
                  <a:lnTo>
                    <a:pt x="26138" y="0"/>
                  </a:lnTo>
                  <a:cubicBezTo>
                    <a:pt x="40574" y="0"/>
                    <a:pt x="52277" y="11703"/>
                    <a:pt x="52277" y="26138"/>
                  </a:cubicBezTo>
                  <a:lnTo>
                    <a:pt x="52277" y="1093019"/>
                  </a:lnTo>
                  <a:cubicBezTo>
                    <a:pt x="52277" y="1099951"/>
                    <a:pt x="49523" y="1106599"/>
                    <a:pt x="44621" y="1111501"/>
                  </a:cubicBezTo>
                  <a:cubicBezTo>
                    <a:pt x="39719" y="1116403"/>
                    <a:pt x="33071" y="1119157"/>
                    <a:pt x="26138" y="1119157"/>
                  </a:cubicBezTo>
                  <a:lnTo>
                    <a:pt x="26138" y="1119157"/>
                  </a:lnTo>
                  <a:cubicBezTo>
                    <a:pt x="19206" y="1119157"/>
                    <a:pt x="12558" y="1116403"/>
                    <a:pt x="7656" y="1111501"/>
                  </a:cubicBezTo>
                  <a:cubicBezTo>
                    <a:pt x="2754" y="1106599"/>
                    <a:pt x="0" y="1099951"/>
                    <a:pt x="0" y="1093019"/>
                  </a:cubicBezTo>
                  <a:lnTo>
                    <a:pt x="0" y="26138"/>
                  </a:lnTo>
                  <a:cubicBezTo>
                    <a:pt x="0" y="19206"/>
                    <a:pt x="2754" y="12558"/>
                    <a:pt x="7656" y="7656"/>
                  </a:cubicBezTo>
                  <a:cubicBezTo>
                    <a:pt x="12558" y="2754"/>
                    <a:pt x="19206" y="0"/>
                    <a:pt x="26138"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2" id="22"/>
            <p:cNvSpPr txBox="true"/>
            <p:nvPr/>
          </p:nvSpPr>
          <p:spPr>
            <a:xfrm>
              <a:off x="0" y="-66675"/>
              <a:ext cx="52277" cy="1185832"/>
            </a:xfrm>
            <a:prstGeom prst="rect">
              <a:avLst/>
            </a:prstGeom>
          </p:spPr>
          <p:txBody>
            <a:bodyPr anchor="ctr" rtlCol="false" tIns="50800" lIns="50800" bIns="50800" rIns="50800"/>
            <a:lstStyle/>
            <a:p>
              <a:pPr algn="ctr">
                <a:lnSpc>
                  <a:spcPts val="3638"/>
                </a:lnSpc>
              </a:pPr>
            </a:p>
          </p:txBody>
        </p:sp>
      </p:grpSp>
      <p:grpSp>
        <p:nvGrpSpPr>
          <p:cNvPr name="Group 23" id="23"/>
          <p:cNvGrpSpPr/>
          <p:nvPr/>
        </p:nvGrpSpPr>
        <p:grpSpPr>
          <a:xfrm rot="0">
            <a:off x="9473583" y="4676673"/>
            <a:ext cx="198488" cy="4249299"/>
            <a:chOff x="0" y="0"/>
            <a:chExt cx="52277" cy="1119157"/>
          </a:xfrm>
        </p:grpSpPr>
        <p:sp>
          <p:nvSpPr>
            <p:cNvPr name="Freeform 24" id="24"/>
            <p:cNvSpPr/>
            <p:nvPr/>
          </p:nvSpPr>
          <p:spPr>
            <a:xfrm flipH="false" flipV="false" rot="0">
              <a:off x="0" y="0"/>
              <a:ext cx="52277" cy="1119157"/>
            </a:xfrm>
            <a:custGeom>
              <a:avLst/>
              <a:gdLst/>
              <a:ahLst/>
              <a:cxnLst/>
              <a:rect r="r" b="b" t="t" l="l"/>
              <a:pathLst>
                <a:path h="1119157" w="52277">
                  <a:moveTo>
                    <a:pt x="26138" y="0"/>
                  </a:moveTo>
                  <a:lnTo>
                    <a:pt x="26138" y="0"/>
                  </a:lnTo>
                  <a:cubicBezTo>
                    <a:pt x="40574" y="0"/>
                    <a:pt x="52277" y="11703"/>
                    <a:pt x="52277" y="26138"/>
                  </a:cubicBezTo>
                  <a:lnTo>
                    <a:pt x="52277" y="1093019"/>
                  </a:lnTo>
                  <a:cubicBezTo>
                    <a:pt x="52277" y="1099951"/>
                    <a:pt x="49523" y="1106599"/>
                    <a:pt x="44621" y="1111501"/>
                  </a:cubicBezTo>
                  <a:cubicBezTo>
                    <a:pt x="39719" y="1116403"/>
                    <a:pt x="33071" y="1119157"/>
                    <a:pt x="26138" y="1119157"/>
                  </a:cubicBezTo>
                  <a:lnTo>
                    <a:pt x="26138" y="1119157"/>
                  </a:lnTo>
                  <a:cubicBezTo>
                    <a:pt x="19206" y="1119157"/>
                    <a:pt x="12558" y="1116403"/>
                    <a:pt x="7656" y="1111501"/>
                  </a:cubicBezTo>
                  <a:cubicBezTo>
                    <a:pt x="2754" y="1106599"/>
                    <a:pt x="0" y="1099951"/>
                    <a:pt x="0" y="1093019"/>
                  </a:cubicBezTo>
                  <a:lnTo>
                    <a:pt x="0" y="26138"/>
                  </a:lnTo>
                  <a:cubicBezTo>
                    <a:pt x="0" y="19206"/>
                    <a:pt x="2754" y="12558"/>
                    <a:pt x="7656" y="7656"/>
                  </a:cubicBezTo>
                  <a:cubicBezTo>
                    <a:pt x="12558" y="2754"/>
                    <a:pt x="19206" y="0"/>
                    <a:pt x="26138"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25" id="25"/>
            <p:cNvSpPr txBox="true"/>
            <p:nvPr/>
          </p:nvSpPr>
          <p:spPr>
            <a:xfrm>
              <a:off x="0" y="-66675"/>
              <a:ext cx="52277" cy="1185832"/>
            </a:xfrm>
            <a:prstGeom prst="rect">
              <a:avLst/>
            </a:prstGeom>
          </p:spPr>
          <p:txBody>
            <a:bodyPr anchor="ctr" rtlCol="false" tIns="50800" lIns="50800" bIns="50800" rIns="50800"/>
            <a:lstStyle/>
            <a:p>
              <a:pPr algn="ctr">
                <a:lnSpc>
                  <a:spcPts val="3638"/>
                </a:lnSpc>
              </a:pPr>
            </a:p>
          </p:txBody>
        </p:sp>
      </p:gr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FalconVQA</a:t>
            </a:r>
          </a:p>
        </p:txBody>
      </p:sp>
      <p:sp>
        <p:nvSpPr>
          <p:cNvPr name="TextBox 10" id="1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Semantic Video Retrieval</a:t>
            </a:r>
          </a:p>
        </p:txBody>
      </p:sp>
      <p:grpSp>
        <p:nvGrpSpPr>
          <p:cNvPr name="Group 11" id="11"/>
          <p:cNvGrpSpPr/>
          <p:nvPr/>
        </p:nvGrpSpPr>
        <p:grpSpPr>
          <a:xfrm rot="0">
            <a:off x="1182106" y="5390676"/>
            <a:ext cx="7680288" cy="3867624"/>
            <a:chOff x="0" y="0"/>
            <a:chExt cx="2022792" cy="1018634"/>
          </a:xfrm>
        </p:grpSpPr>
        <p:sp>
          <p:nvSpPr>
            <p:cNvPr name="Freeform 12" id="12"/>
            <p:cNvSpPr/>
            <p:nvPr/>
          </p:nvSpPr>
          <p:spPr>
            <a:xfrm flipH="false" flipV="false" rot="0">
              <a:off x="0" y="0"/>
              <a:ext cx="2022792" cy="1018634"/>
            </a:xfrm>
            <a:custGeom>
              <a:avLst/>
              <a:gdLst/>
              <a:ahLst/>
              <a:cxnLst/>
              <a:rect r="r" b="b" t="t" l="l"/>
              <a:pathLst>
                <a:path h="1018634" w="2022792">
                  <a:moveTo>
                    <a:pt x="51409" y="0"/>
                  </a:moveTo>
                  <a:lnTo>
                    <a:pt x="1971383" y="0"/>
                  </a:lnTo>
                  <a:cubicBezTo>
                    <a:pt x="1999775" y="0"/>
                    <a:pt x="2022792" y="23017"/>
                    <a:pt x="2022792" y="51409"/>
                  </a:cubicBezTo>
                  <a:lnTo>
                    <a:pt x="2022792" y="967224"/>
                  </a:lnTo>
                  <a:cubicBezTo>
                    <a:pt x="2022792" y="995617"/>
                    <a:pt x="1999775" y="1018634"/>
                    <a:pt x="1971383" y="1018634"/>
                  </a:cubicBezTo>
                  <a:lnTo>
                    <a:pt x="51409" y="1018634"/>
                  </a:lnTo>
                  <a:cubicBezTo>
                    <a:pt x="23017" y="1018634"/>
                    <a:pt x="0" y="995617"/>
                    <a:pt x="0" y="967224"/>
                  </a:cubicBezTo>
                  <a:lnTo>
                    <a:pt x="0" y="51409"/>
                  </a:lnTo>
                  <a:cubicBezTo>
                    <a:pt x="0" y="23017"/>
                    <a:pt x="23017" y="0"/>
                    <a:pt x="51409"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3" id="13"/>
            <p:cNvSpPr txBox="true"/>
            <p:nvPr/>
          </p:nvSpPr>
          <p:spPr>
            <a:xfrm>
              <a:off x="0" y="-66675"/>
              <a:ext cx="2022792" cy="1085309"/>
            </a:xfrm>
            <a:prstGeom prst="rect">
              <a:avLst/>
            </a:prstGeom>
          </p:spPr>
          <p:txBody>
            <a:bodyPr anchor="ctr" rtlCol="false" tIns="50800" lIns="50800" bIns="50800" rIns="50800"/>
            <a:lstStyle/>
            <a:p>
              <a:pPr algn="ctr">
                <a:lnSpc>
                  <a:spcPts val="3638"/>
                </a:lnSpc>
              </a:pPr>
            </a:p>
          </p:txBody>
        </p:sp>
      </p:grpSp>
      <p:grpSp>
        <p:nvGrpSpPr>
          <p:cNvPr name="Group 14" id="14"/>
          <p:cNvGrpSpPr/>
          <p:nvPr/>
        </p:nvGrpSpPr>
        <p:grpSpPr>
          <a:xfrm rot="0">
            <a:off x="9425606" y="5390676"/>
            <a:ext cx="7680288" cy="3867624"/>
            <a:chOff x="0" y="0"/>
            <a:chExt cx="2022792" cy="1018634"/>
          </a:xfrm>
        </p:grpSpPr>
        <p:sp>
          <p:nvSpPr>
            <p:cNvPr name="Freeform 15" id="15"/>
            <p:cNvSpPr/>
            <p:nvPr/>
          </p:nvSpPr>
          <p:spPr>
            <a:xfrm flipH="false" flipV="false" rot="0">
              <a:off x="0" y="0"/>
              <a:ext cx="2022792" cy="1018634"/>
            </a:xfrm>
            <a:custGeom>
              <a:avLst/>
              <a:gdLst/>
              <a:ahLst/>
              <a:cxnLst/>
              <a:rect r="r" b="b" t="t" l="l"/>
              <a:pathLst>
                <a:path h="1018634" w="2022792">
                  <a:moveTo>
                    <a:pt x="51409" y="0"/>
                  </a:moveTo>
                  <a:lnTo>
                    <a:pt x="1971383" y="0"/>
                  </a:lnTo>
                  <a:cubicBezTo>
                    <a:pt x="1999775" y="0"/>
                    <a:pt x="2022792" y="23017"/>
                    <a:pt x="2022792" y="51409"/>
                  </a:cubicBezTo>
                  <a:lnTo>
                    <a:pt x="2022792" y="967224"/>
                  </a:lnTo>
                  <a:cubicBezTo>
                    <a:pt x="2022792" y="995617"/>
                    <a:pt x="1999775" y="1018634"/>
                    <a:pt x="1971383" y="1018634"/>
                  </a:cubicBezTo>
                  <a:lnTo>
                    <a:pt x="51409" y="1018634"/>
                  </a:lnTo>
                  <a:cubicBezTo>
                    <a:pt x="23017" y="1018634"/>
                    <a:pt x="0" y="995617"/>
                    <a:pt x="0" y="967224"/>
                  </a:cubicBezTo>
                  <a:lnTo>
                    <a:pt x="0" y="51409"/>
                  </a:lnTo>
                  <a:cubicBezTo>
                    <a:pt x="0" y="23017"/>
                    <a:pt x="23017" y="0"/>
                    <a:pt x="51409"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6" id="16"/>
            <p:cNvSpPr txBox="true"/>
            <p:nvPr/>
          </p:nvSpPr>
          <p:spPr>
            <a:xfrm>
              <a:off x="0" y="-66675"/>
              <a:ext cx="2022792" cy="1085309"/>
            </a:xfrm>
            <a:prstGeom prst="rect">
              <a:avLst/>
            </a:prstGeom>
          </p:spPr>
          <p:txBody>
            <a:bodyPr anchor="ctr" rtlCol="false" tIns="50800" lIns="50800" bIns="50800" rIns="50800"/>
            <a:lstStyle/>
            <a:p>
              <a:pPr algn="ctr">
                <a:lnSpc>
                  <a:spcPts val="3638"/>
                </a:lnSpc>
              </a:pPr>
            </a:p>
          </p:txBody>
        </p:sp>
      </p:grpSp>
      <p:sp>
        <p:nvSpPr>
          <p:cNvPr name="TextBox 17" id="17"/>
          <p:cNvSpPr txBox="true"/>
          <p:nvPr/>
        </p:nvSpPr>
        <p:spPr>
          <a:xfrm rot="0">
            <a:off x="1307554" y="2253386"/>
            <a:ext cx="8391317" cy="2890114"/>
          </a:xfrm>
          <a:prstGeom prst="rect">
            <a:avLst/>
          </a:prstGeom>
        </p:spPr>
        <p:txBody>
          <a:bodyPr anchor="t" rtlCol="false" tIns="0" lIns="0" bIns="0" rIns="0">
            <a:spAutoFit/>
          </a:bodyPr>
          <a:lstStyle/>
          <a:p>
            <a:pPr algn="l">
              <a:lnSpc>
                <a:spcPts val="10713"/>
              </a:lnSpc>
            </a:pPr>
            <a:r>
              <a:rPr lang="en-US" sz="9000" spc="-1071">
                <a:solidFill>
                  <a:srgbClr val="F9F9F9"/>
                </a:solidFill>
                <a:latin typeface="Cy Grotesk V3 Key"/>
                <a:ea typeface="Cy Grotesk V3 Key"/>
                <a:cs typeface="Cy Grotesk V3 Key"/>
                <a:sym typeface="Cy Grotesk V3 Key"/>
              </a:rPr>
              <a:t>Outcomes</a:t>
            </a:r>
          </a:p>
        </p:txBody>
      </p:sp>
      <p:sp>
        <p:nvSpPr>
          <p:cNvPr name="TextBox 18" id="18"/>
          <p:cNvSpPr txBox="true"/>
          <p:nvPr/>
        </p:nvSpPr>
        <p:spPr>
          <a:xfrm rot="0">
            <a:off x="8084964" y="2243488"/>
            <a:ext cx="9174336"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The pipeline runs end to end on real surveillance footage. A recording is chunked, analysed, indexed and aggregated on upload, and is then searchable by description, questionable in natural language, and playable from any result returned.</a:t>
            </a:r>
          </a:p>
        </p:txBody>
      </p:sp>
      <p:sp>
        <p:nvSpPr>
          <p:cNvPr name="TextBox 19" id="19"/>
          <p:cNvSpPr txBox="true"/>
          <p:nvPr/>
        </p:nvSpPr>
        <p:spPr>
          <a:xfrm rot="0">
            <a:off x="8084964" y="3631304"/>
            <a:ext cx="9174336" cy="998220"/>
          </a:xfrm>
          <a:prstGeom prst="rect">
            <a:avLst/>
          </a:prstGeom>
        </p:spPr>
        <p:txBody>
          <a:bodyPr anchor="t" rtlCol="false" tIns="0" lIns="0" bIns="0" rIns="0">
            <a:spAutoFit/>
          </a:bodyPr>
          <a:lstStyle/>
          <a:p>
            <a:pPr algn="l">
              <a:lnSpc>
                <a:spcPts val="2640"/>
              </a:lnSpc>
            </a:pPr>
            <a:r>
              <a:rPr lang="en-US" sz="2000" spc="-110">
                <a:solidFill>
                  <a:srgbClr val="FFFFFF"/>
                </a:solidFill>
                <a:latin typeface="HK Grotesk"/>
                <a:ea typeface="HK Grotesk"/>
                <a:cs typeface="HK Grotesk"/>
                <a:sym typeface="HK Grotesk"/>
              </a:rPr>
              <a:t>Decisions were settled by measurement rather than assumption. Weight redistribution, the adaptive similarity cap, label-free detector boxes and constrained entity linking each replaced an obvious choice observed to fail.</a:t>
            </a:r>
          </a:p>
        </p:txBody>
      </p:sp>
      <p:sp>
        <p:nvSpPr>
          <p:cNvPr name="TextBox 20" id="20"/>
          <p:cNvSpPr txBox="true"/>
          <p:nvPr/>
        </p:nvSpPr>
        <p:spPr>
          <a:xfrm rot="0">
            <a:off x="1615228" y="8003438"/>
            <a:ext cx="7086538" cy="883285"/>
          </a:xfrm>
          <a:prstGeom prst="rect">
            <a:avLst/>
          </a:prstGeom>
        </p:spPr>
        <p:txBody>
          <a:bodyPr anchor="t" rtlCol="false" tIns="0" lIns="0" bIns="0" rIns="0">
            <a:spAutoFit/>
          </a:bodyPr>
          <a:lstStyle/>
          <a:p>
            <a:pPr algn="l">
              <a:lnSpc>
                <a:spcPts val="2375"/>
              </a:lnSpc>
            </a:pPr>
            <a:r>
              <a:rPr lang="en-US" sz="1900" i="true" spc="-68">
                <a:solidFill>
                  <a:srgbClr val="FFFFFF"/>
                </a:solidFill>
                <a:latin typeface="HK Grotesk Light Italics"/>
                <a:ea typeface="HK Grotesk Light Italics"/>
                <a:cs typeface="HK Grotesk Light Italics"/>
                <a:sym typeface="HK Grotesk Light Italics"/>
              </a:rPr>
              <a:t>Measured for sequential decoding against per-frame seeking, which restarts the H.264 decoder at a keyframe on every read.</a:t>
            </a:r>
          </a:p>
        </p:txBody>
      </p:sp>
      <p:sp>
        <p:nvSpPr>
          <p:cNvPr name="TextBox 21" id="21"/>
          <p:cNvSpPr txBox="true"/>
          <p:nvPr/>
        </p:nvSpPr>
        <p:spPr>
          <a:xfrm rot="0">
            <a:off x="9730528" y="8003438"/>
            <a:ext cx="7086538" cy="883285"/>
          </a:xfrm>
          <a:prstGeom prst="rect">
            <a:avLst/>
          </a:prstGeom>
        </p:spPr>
        <p:txBody>
          <a:bodyPr anchor="t" rtlCol="false" tIns="0" lIns="0" bIns="0" rIns="0">
            <a:spAutoFit/>
          </a:bodyPr>
          <a:lstStyle/>
          <a:p>
            <a:pPr algn="l">
              <a:lnSpc>
                <a:spcPts val="2375"/>
              </a:lnSpc>
            </a:pPr>
            <a:r>
              <a:rPr lang="en-US" sz="1900" i="true" spc="-68">
                <a:solidFill>
                  <a:srgbClr val="FFFFFF"/>
                </a:solidFill>
                <a:latin typeface="HK Grotesk Light Italics"/>
                <a:ea typeface="HK Grotesk Light Italics"/>
                <a:cs typeface="HK Grotesk Light Italics"/>
                <a:sym typeface="HK Grotesk Light Italics"/>
              </a:rPr>
              <a:t>A minimal response against roughly 19,000 tokens for five full hits, so a token-metered agent pays only for what it needs.</a:t>
            </a:r>
          </a:p>
        </p:txBody>
      </p:sp>
      <p:sp>
        <p:nvSpPr>
          <p:cNvPr name="TextBox 22" id="22"/>
          <p:cNvSpPr txBox="true"/>
          <p:nvPr/>
        </p:nvSpPr>
        <p:spPr>
          <a:xfrm rot="0">
            <a:off x="1629219" y="7354207"/>
            <a:ext cx="3691110" cy="508890"/>
          </a:xfrm>
          <a:prstGeom prst="rect">
            <a:avLst/>
          </a:prstGeom>
        </p:spPr>
        <p:txBody>
          <a:bodyPr anchor="t" rtlCol="false" tIns="0" lIns="0" bIns="0" rIns="0">
            <a:spAutoFit/>
          </a:bodyPr>
          <a:lstStyle/>
          <a:p>
            <a:pPr algn="l">
              <a:lnSpc>
                <a:spcPts val="4227"/>
              </a:lnSpc>
            </a:pPr>
            <a:r>
              <a:rPr lang="en-US" sz="2600" b="true">
                <a:solidFill>
                  <a:srgbClr val="FFFFFF"/>
                </a:solidFill>
                <a:latin typeface="HK Grotesk Bold"/>
                <a:ea typeface="HK Grotesk Bold"/>
                <a:cs typeface="HK Grotesk Bold"/>
                <a:sym typeface="HK Grotesk Bold"/>
              </a:rPr>
              <a:t>Faster Frame Reads</a:t>
            </a:r>
          </a:p>
        </p:txBody>
      </p:sp>
      <p:sp>
        <p:nvSpPr>
          <p:cNvPr name="TextBox 23" id="23"/>
          <p:cNvSpPr txBox="true"/>
          <p:nvPr/>
        </p:nvSpPr>
        <p:spPr>
          <a:xfrm rot="0">
            <a:off x="9744519" y="7354207"/>
            <a:ext cx="3691110" cy="508890"/>
          </a:xfrm>
          <a:prstGeom prst="rect">
            <a:avLst/>
          </a:prstGeom>
        </p:spPr>
        <p:txBody>
          <a:bodyPr anchor="t" rtlCol="false" tIns="0" lIns="0" bIns="0" rIns="0">
            <a:spAutoFit/>
          </a:bodyPr>
          <a:lstStyle/>
          <a:p>
            <a:pPr algn="l">
              <a:lnSpc>
                <a:spcPts val="4227"/>
              </a:lnSpc>
            </a:pPr>
            <a:r>
              <a:rPr lang="en-US" sz="2600" b="true">
                <a:solidFill>
                  <a:srgbClr val="FFFFFF"/>
                </a:solidFill>
                <a:latin typeface="HK Grotesk Bold"/>
                <a:ea typeface="HK Grotesk Bold"/>
                <a:cs typeface="HK Grotesk Bold"/>
                <a:sym typeface="HK Grotesk Bold"/>
              </a:rPr>
              <a:t>Tokens per Search</a:t>
            </a:r>
          </a:p>
        </p:txBody>
      </p:sp>
      <p:sp>
        <p:nvSpPr>
          <p:cNvPr name="TextBox 24" id="24"/>
          <p:cNvSpPr txBox="true"/>
          <p:nvPr/>
        </p:nvSpPr>
        <p:spPr>
          <a:xfrm rot="0">
            <a:off x="1615228" y="5349511"/>
            <a:ext cx="3309142" cy="2090421"/>
          </a:xfrm>
          <a:prstGeom prst="rect">
            <a:avLst/>
          </a:prstGeom>
        </p:spPr>
        <p:txBody>
          <a:bodyPr anchor="t" rtlCol="false" tIns="0" lIns="0" bIns="0" rIns="0">
            <a:spAutoFit/>
          </a:bodyPr>
          <a:lstStyle/>
          <a:p>
            <a:pPr algn="l">
              <a:lnSpc>
                <a:spcPts val="17364"/>
              </a:lnSpc>
            </a:pPr>
            <a:r>
              <a:rPr lang="en-US" sz="11499" b="true">
                <a:solidFill>
                  <a:srgbClr val="FFFFFF"/>
                </a:solidFill>
                <a:latin typeface="HK Grotesk Bold"/>
                <a:ea typeface="HK Grotesk Bold"/>
                <a:cs typeface="HK Grotesk Bold"/>
                <a:sym typeface="HK Grotesk Bold"/>
              </a:rPr>
              <a:t>22x</a:t>
            </a:r>
          </a:p>
        </p:txBody>
      </p:sp>
      <p:sp>
        <p:nvSpPr>
          <p:cNvPr name="TextBox 25" id="25"/>
          <p:cNvSpPr txBox="true"/>
          <p:nvPr/>
        </p:nvSpPr>
        <p:spPr>
          <a:xfrm rot="0">
            <a:off x="9730528" y="5349511"/>
            <a:ext cx="6479483" cy="2090421"/>
          </a:xfrm>
          <a:prstGeom prst="rect">
            <a:avLst/>
          </a:prstGeom>
        </p:spPr>
        <p:txBody>
          <a:bodyPr anchor="t" rtlCol="false" tIns="0" lIns="0" bIns="0" rIns="0">
            <a:spAutoFit/>
          </a:bodyPr>
          <a:lstStyle/>
          <a:p>
            <a:pPr algn="l">
              <a:lnSpc>
                <a:spcPts val="17364"/>
              </a:lnSpc>
            </a:pPr>
            <a:r>
              <a:rPr lang="en-US" sz="11499" b="true">
                <a:solidFill>
                  <a:srgbClr val="FFFFFF"/>
                </a:solidFill>
                <a:latin typeface="HK Grotesk Bold"/>
                <a:ea typeface="HK Grotesk Bold"/>
                <a:cs typeface="HK Grotesk Bold"/>
                <a:sym typeface="HK Grotesk Bold"/>
              </a:rPr>
              <a:t>440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Freeform 3" id="3"/>
          <p:cNvSpPr/>
          <p:nvPr/>
        </p:nvSpPr>
        <p:spPr>
          <a:xfrm flipH="false" flipV="false" rot="0">
            <a:off x="-2283664" y="-1719761"/>
            <a:ext cx="8524068" cy="8229600"/>
          </a:xfrm>
          <a:custGeom>
            <a:avLst/>
            <a:gdLst/>
            <a:ahLst/>
            <a:cxnLst/>
            <a:rect r="r" b="b" t="t" l="l"/>
            <a:pathLst>
              <a:path h="8229600" w="8524068">
                <a:moveTo>
                  <a:pt x="0" y="0"/>
                </a:moveTo>
                <a:lnTo>
                  <a:pt x="8524068" y="0"/>
                </a:lnTo>
                <a:lnTo>
                  <a:pt x="8524068" y="8229600"/>
                </a:lnTo>
                <a:lnTo>
                  <a:pt x="0" y="8229600"/>
                </a:lnTo>
                <a:lnTo>
                  <a:pt x="0" y="0"/>
                </a:lnTo>
                <a:close/>
              </a:path>
            </a:pathLst>
          </a:custGeom>
          <a:blipFill>
            <a:blip r:embed="rId3">
              <a:alphaModFix amt="19999"/>
            </a:blip>
            <a:stretch>
              <a:fillRect l="0" t="0" r="0" b="0"/>
            </a:stretch>
          </a:blipFill>
        </p:spPr>
      </p:sp>
      <p:sp>
        <p:nvSpPr>
          <p:cNvPr name="Freeform 4" id="4"/>
          <p:cNvSpPr/>
          <p:nvPr/>
        </p:nvSpPr>
        <p:spPr>
          <a:xfrm flipH="false" flipV="false" rot="0">
            <a:off x="12127946" y="4771923"/>
            <a:ext cx="8524068" cy="8229600"/>
          </a:xfrm>
          <a:custGeom>
            <a:avLst/>
            <a:gdLst/>
            <a:ahLst/>
            <a:cxnLst/>
            <a:rect r="r" b="b" t="t" l="l"/>
            <a:pathLst>
              <a:path h="8229600" w="8524068">
                <a:moveTo>
                  <a:pt x="0" y="0"/>
                </a:moveTo>
                <a:lnTo>
                  <a:pt x="8524067" y="0"/>
                </a:lnTo>
                <a:lnTo>
                  <a:pt x="8524067" y="8229600"/>
                </a:lnTo>
                <a:lnTo>
                  <a:pt x="0" y="8229600"/>
                </a:lnTo>
                <a:lnTo>
                  <a:pt x="0" y="0"/>
                </a:lnTo>
                <a:close/>
              </a:path>
            </a:pathLst>
          </a:custGeom>
          <a:blipFill>
            <a:blip r:embed="rId3">
              <a:alphaModFix amt="19999"/>
            </a:blip>
            <a:stretch>
              <a:fillRect l="0" t="0" r="0" b="0"/>
            </a:stretch>
          </a:blipFill>
        </p:spPr>
      </p:sp>
      <p:sp>
        <p:nvSpPr>
          <p:cNvPr name="Freeform 5" id="5"/>
          <p:cNvSpPr/>
          <p:nvPr/>
        </p:nvSpPr>
        <p:spPr>
          <a:xfrm flipH="false" flipV="false" rot="0">
            <a:off x="1307554" y="1034898"/>
            <a:ext cx="308535" cy="383057"/>
          </a:xfrm>
          <a:custGeom>
            <a:avLst/>
            <a:gdLst/>
            <a:ahLst/>
            <a:cxnLst/>
            <a:rect r="r" b="b" t="t" l="l"/>
            <a:pathLst>
              <a:path h="383057" w="308535">
                <a:moveTo>
                  <a:pt x="0" y="0"/>
                </a:moveTo>
                <a:lnTo>
                  <a:pt x="308536" y="0"/>
                </a:lnTo>
                <a:lnTo>
                  <a:pt x="308536" y="383057"/>
                </a:lnTo>
                <a:lnTo>
                  <a:pt x="0" y="383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1569930"/>
            <a:ext cx="16230600" cy="63804"/>
            <a:chOff x="0" y="0"/>
            <a:chExt cx="4052983" cy="15933"/>
          </a:xfrm>
        </p:grpSpPr>
        <p:sp>
          <p:nvSpPr>
            <p:cNvPr name="Freeform 7" id="7"/>
            <p:cNvSpPr/>
            <p:nvPr/>
          </p:nvSpPr>
          <p:spPr>
            <a:xfrm flipH="false" flipV="false" rot="0">
              <a:off x="0" y="0"/>
              <a:ext cx="4052983" cy="15933"/>
            </a:xfrm>
            <a:custGeom>
              <a:avLst/>
              <a:gdLst/>
              <a:ahLst/>
              <a:cxnLst/>
              <a:rect r="r" b="b" t="t" l="l"/>
              <a:pathLst>
                <a:path h="15933" w="4052983">
                  <a:moveTo>
                    <a:pt x="0" y="0"/>
                  </a:moveTo>
                  <a:lnTo>
                    <a:pt x="4052983" y="0"/>
                  </a:lnTo>
                  <a:lnTo>
                    <a:pt x="4052983" y="15933"/>
                  </a:lnTo>
                  <a:lnTo>
                    <a:pt x="0" y="15933"/>
                  </a:lnTo>
                  <a:close/>
                </a:path>
              </a:pathLst>
            </a:custGeom>
            <a:gradFill rotWithShape="true">
              <a:gsLst>
                <a:gs pos="0">
                  <a:srgbClr val="FFC4E1">
                    <a:alpha val="0"/>
                  </a:srgbClr>
                </a:gs>
                <a:gs pos="25000">
                  <a:srgbClr val="C4FBFF">
                    <a:alpha val="100000"/>
                  </a:srgbClr>
                </a:gs>
                <a:gs pos="50000">
                  <a:srgbClr val="DAFCFF">
                    <a:alpha val="100000"/>
                  </a:srgbClr>
                </a:gs>
                <a:gs pos="75000">
                  <a:srgbClr val="C4FBFF">
                    <a:alpha val="60000"/>
                  </a:srgbClr>
                </a:gs>
                <a:gs pos="100000">
                  <a:srgbClr val="FFC4E1">
                    <a:alpha val="0"/>
                  </a:srgbClr>
                </a:gs>
              </a:gsLst>
              <a:lin ang="0"/>
            </a:gradFill>
          </p:spPr>
        </p:sp>
        <p:sp>
          <p:nvSpPr>
            <p:cNvPr name="TextBox 8" id="8"/>
            <p:cNvSpPr txBox="true"/>
            <p:nvPr/>
          </p:nvSpPr>
          <p:spPr>
            <a:xfrm>
              <a:off x="0" y="-38100"/>
              <a:ext cx="4052983" cy="54033"/>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772242" y="1123950"/>
            <a:ext cx="4895164" cy="294005"/>
          </a:xfrm>
          <a:prstGeom prst="rect">
            <a:avLst/>
          </a:prstGeom>
        </p:spPr>
        <p:txBody>
          <a:bodyPr anchor="t" rtlCol="false" tIns="0" lIns="0" bIns="0" rIns="0">
            <a:spAutoFit/>
          </a:bodyPr>
          <a:lstStyle/>
          <a:p>
            <a:pPr algn="l" marL="0" indent="0" lvl="0">
              <a:lnSpc>
                <a:spcPts val="2080"/>
              </a:lnSpc>
              <a:spcBef>
                <a:spcPct val="0"/>
              </a:spcBef>
            </a:pPr>
            <a:r>
              <a:rPr lang="en-US" sz="2600" spc="-208">
                <a:solidFill>
                  <a:srgbClr val="FFFFFF"/>
                </a:solidFill>
                <a:latin typeface="HK Grotesk"/>
                <a:ea typeface="HK Grotesk"/>
                <a:cs typeface="HK Grotesk"/>
                <a:sym typeface="HK Grotesk"/>
              </a:rPr>
              <a:t>FalconVQA</a:t>
            </a:r>
          </a:p>
        </p:txBody>
      </p:sp>
      <p:sp>
        <p:nvSpPr>
          <p:cNvPr name="TextBox 10" id="10"/>
          <p:cNvSpPr txBox="true"/>
          <p:nvPr/>
        </p:nvSpPr>
        <p:spPr>
          <a:xfrm rot="0">
            <a:off x="13112343" y="1123950"/>
            <a:ext cx="4715299" cy="294005"/>
          </a:xfrm>
          <a:prstGeom prst="rect">
            <a:avLst/>
          </a:prstGeom>
        </p:spPr>
        <p:txBody>
          <a:bodyPr anchor="t" rtlCol="false" tIns="0" lIns="0" bIns="0" rIns="0">
            <a:spAutoFit/>
          </a:bodyPr>
          <a:lstStyle/>
          <a:p>
            <a:pPr algn="l" marL="0" indent="0" lvl="0">
              <a:lnSpc>
                <a:spcPts val="2080"/>
              </a:lnSpc>
              <a:spcBef>
                <a:spcPct val="0"/>
              </a:spcBef>
            </a:pPr>
            <a:r>
              <a:rPr lang="en-US" sz="2600" spc="-208" strike="noStrike" u="none">
                <a:solidFill>
                  <a:srgbClr val="FFFFFF"/>
                </a:solidFill>
                <a:latin typeface="HK Grotesk"/>
                <a:ea typeface="HK Grotesk"/>
                <a:cs typeface="HK Grotesk"/>
                <a:sym typeface="HK Grotesk"/>
              </a:rPr>
              <a:t>Semantic Video Retrieval</a:t>
            </a:r>
          </a:p>
        </p:txBody>
      </p:sp>
      <p:grpSp>
        <p:nvGrpSpPr>
          <p:cNvPr name="Group 11" id="11"/>
          <p:cNvGrpSpPr/>
          <p:nvPr/>
        </p:nvGrpSpPr>
        <p:grpSpPr>
          <a:xfrm rot="0">
            <a:off x="10412629" y="2233512"/>
            <a:ext cx="6846671" cy="7024788"/>
            <a:chOff x="0" y="0"/>
            <a:chExt cx="1803239" cy="1850150"/>
          </a:xfrm>
        </p:grpSpPr>
        <p:sp>
          <p:nvSpPr>
            <p:cNvPr name="Freeform 12" id="12"/>
            <p:cNvSpPr/>
            <p:nvPr/>
          </p:nvSpPr>
          <p:spPr>
            <a:xfrm flipH="false" flipV="false" rot="0">
              <a:off x="0" y="0"/>
              <a:ext cx="1803239" cy="1850150"/>
            </a:xfrm>
            <a:custGeom>
              <a:avLst/>
              <a:gdLst/>
              <a:ahLst/>
              <a:cxnLst/>
              <a:rect r="r" b="b" t="t" l="l"/>
              <a:pathLst>
                <a:path h="1850150" w="1803239">
                  <a:moveTo>
                    <a:pt x="57669" y="0"/>
                  </a:moveTo>
                  <a:lnTo>
                    <a:pt x="1745570" y="0"/>
                  </a:lnTo>
                  <a:cubicBezTo>
                    <a:pt x="1777419" y="0"/>
                    <a:pt x="1803239" y="25819"/>
                    <a:pt x="1803239" y="57669"/>
                  </a:cubicBezTo>
                  <a:lnTo>
                    <a:pt x="1803239" y="1792481"/>
                  </a:lnTo>
                  <a:cubicBezTo>
                    <a:pt x="1803239" y="1824331"/>
                    <a:pt x="1777419" y="1850150"/>
                    <a:pt x="1745570" y="1850150"/>
                  </a:cubicBezTo>
                  <a:lnTo>
                    <a:pt x="57669" y="1850150"/>
                  </a:lnTo>
                  <a:cubicBezTo>
                    <a:pt x="25819" y="1850150"/>
                    <a:pt x="0" y="1824331"/>
                    <a:pt x="0" y="1792481"/>
                  </a:cubicBezTo>
                  <a:lnTo>
                    <a:pt x="0" y="57669"/>
                  </a:lnTo>
                  <a:cubicBezTo>
                    <a:pt x="0" y="25819"/>
                    <a:pt x="25819" y="0"/>
                    <a:pt x="57669" y="0"/>
                  </a:cubicBezTo>
                  <a:close/>
                </a:path>
              </a:pathLst>
            </a:custGeom>
            <a:gradFill rotWithShape="true">
              <a:gsLst>
                <a:gs pos="0">
                  <a:srgbClr val="FFFFFF">
                    <a:alpha val="7000"/>
                  </a:srgbClr>
                </a:gs>
                <a:gs pos="100000">
                  <a:srgbClr val="FFFFFF">
                    <a:alpha val="14000"/>
                  </a:srgbClr>
                </a:gs>
              </a:gsLst>
              <a:path path="circle">
                <a:fillToRect l="0" r="100000" t="0" b="100000"/>
              </a:path>
              <a:tileRect r="0" l="-100000" b="0" t="-100000"/>
            </a:gradFill>
            <a:ln w="9525" cap="rnd">
              <a:gradFill>
                <a:gsLst>
                  <a:gs pos="0">
                    <a:srgbClr val="FFFFFF">
                      <a:alpha val="100000"/>
                    </a:srgbClr>
                  </a:gs>
                  <a:gs pos="100000">
                    <a:srgbClr val="DBE3EB">
                      <a:alpha val="100000"/>
                    </a:srgbClr>
                  </a:gs>
                </a:gsLst>
                <a:lin ang="0"/>
              </a:gradFill>
              <a:prstDash val="solid"/>
              <a:round/>
            </a:ln>
          </p:spPr>
        </p:sp>
        <p:sp>
          <p:nvSpPr>
            <p:cNvPr name="TextBox 13" id="13"/>
            <p:cNvSpPr txBox="true"/>
            <p:nvPr/>
          </p:nvSpPr>
          <p:spPr>
            <a:xfrm>
              <a:off x="0" y="-66675"/>
              <a:ext cx="1803239" cy="1916825"/>
            </a:xfrm>
            <a:prstGeom prst="rect">
              <a:avLst/>
            </a:prstGeom>
          </p:spPr>
          <p:txBody>
            <a:bodyPr anchor="ctr" rtlCol="false" tIns="50800" lIns="50800" bIns="50800" rIns="50800"/>
            <a:lstStyle/>
            <a:p>
              <a:pPr algn="ctr">
                <a:lnSpc>
                  <a:spcPts val="3638"/>
                </a:lnSpc>
              </a:pPr>
            </a:p>
          </p:txBody>
        </p:sp>
      </p:grpSp>
      <p:sp>
        <p:nvSpPr>
          <p:cNvPr name="TextBox 14" id="14"/>
          <p:cNvSpPr txBox="true"/>
          <p:nvPr/>
        </p:nvSpPr>
        <p:spPr>
          <a:xfrm rot="0">
            <a:off x="1028700" y="3402012"/>
            <a:ext cx="11099246" cy="3959226"/>
          </a:xfrm>
          <a:prstGeom prst="rect">
            <a:avLst/>
          </a:prstGeom>
        </p:spPr>
        <p:txBody>
          <a:bodyPr anchor="t" rtlCol="false" tIns="0" lIns="0" bIns="0" rIns="0">
            <a:spAutoFit/>
          </a:bodyPr>
          <a:lstStyle/>
          <a:p>
            <a:pPr algn="l" marL="0" indent="0" lvl="0">
              <a:lnSpc>
                <a:spcPts val="10000"/>
              </a:lnSpc>
              <a:spcBef>
                <a:spcPct val="0"/>
              </a:spcBef>
            </a:pPr>
            <a:r>
              <a:rPr lang="en-US" sz="12500" spc="-1000">
                <a:solidFill>
                  <a:srgbClr val="F9F9F9"/>
                </a:solidFill>
                <a:latin typeface="Cy Grotesk V3 Key"/>
                <a:ea typeface="Cy Grotesk V3 Key"/>
                <a:cs typeface="Cy Grotesk V3 Key"/>
                <a:sym typeface="Cy Grotesk V3 Key"/>
              </a:rPr>
              <a:t>Conclusion</a:t>
            </a:r>
          </a:p>
        </p:txBody>
      </p:sp>
      <p:sp>
        <p:nvSpPr>
          <p:cNvPr name="TextBox 15" id="15"/>
          <p:cNvSpPr txBox="true"/>
          <p:nvPr/>
        </p:nvSpPr>
        <p:spPr>
          <a:xfrm rot="0">
            <a:off x="1028700" y="7882853"/>
            <a:ext cx="7291346" cy="1331595"/>
          </a:xfrm>
          <a:prstGeom prst="rect">
            <a:avLst/>
          </a:prstGeom>
        </p:spPr>
        <p:txBody>
          <a:bodyPr anchor="t" rtlCol="false" tIns="0" lIns="0" bIns="0" rIns="0">
            <a:spAutoFit/>
          </a:bodyPr>
          <a:lstStyle/>
          <a:p>
            <a:pPr algn="l">
              <a:lnSpc>
                <a:spcPts val="2640"/>
              </a:lnSpc>
            </a:pPr>
            <a:r>
              <a:rPr lang="en-US" sz="1800" spc="-110">
                <a:solidFill>
                  <a:srgbClr val="FFFFFF"/>
                </a:solidFill>
                <a:latin typeface="HK Grotesk"/>
                <a:ea typeface="HK Grotesk"/>
                <a:cs typeface="HK Grotesk"/>
                <a:sym typeface="HK Grotesk"/>
              </a:rPr>
              <a:t>The system replaces the clock as the only handle on a recording. An operator states what is being looked for in plain language and receives the moment it occurred, timestamped and ready to play.</a:t>
            </a:r>
          </a:p>
        </p:txBody>
      </p:sp>
      <p:sp>
        <p:nvSpPr>
          <p:cNvPr name="TextBox 16" id="16"/>
          <p:cNvSpPr txBox="true"/>
          <p:nvPr/>
        </p:nvSpPr>
        <p:spPr>
          <a:xfrm rot="0">
            <a:off x="10912792" y="3571610"/>
            <a:ext cx="6071251"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A working application covering upload, analysis, search, question answering and playback, over a chunking and sampling algorithm designed for continuous audio and video rather than for edited media.</a:t>
            </a:r>
          </a:p>
        </p:txBody>
      </p:sp>
      <p:sp>
        <p:nvSpPr>
          <p:cNvPr name="TextBox 17" id="17"/>
          <p:cNvSpPr txBox="true"/>
          <p:nvPr/>
        </p:nvSpPr>
        <p:spPr>
          <a:xfrm rot="0">
            <a:off x="10912792" y="6770841"/>
            <a:ext cx="6071251" cy="1792097"/>
          </a:xfrm>
          <a:prstGeom prst="rect">
            <a:avLst/>
          </a:prstGeom>
        </p:spPr>
        <p:txBody>
          <a:bodyPr anchor="t" rtlCol="false" tIns="0" lIns="0" bIns="0" rIns="0">
            <a:spAutoFit/>
          </a:bodyPr>
          <a:lstStyle/>
          <a:p>
            <a:pPr algn="l">
              <a:lnSpc>
                <a:spcPts val="2869"/>
              </a:lnSpc>
            </a:pPr>
            <a:r>
              <a:rPr lang="en-US" sz="1900" i="true" spc="-68">
                <a:solidFill>
                  <a:srgbClr val="FFFFFF"/>
                </a:solidFill>
                <a:latin typeface="HK Grotesk Light Italics"/>
                <a:ea typeface="HK Grotesk Light Italics"/>
                <a:cs typeface="HK Grotesk Light Italics"/>
                <a:sym typeface="HK Grotesk Light Italics"/>
              </a:rPr>
              <a:t>Cross-recording person linking across a camera network, ingestion from a live feed as a rolling window, visual re-identification from the stored crops, and exposure of the API as a tool server.</a:t>
            </a:r>
          </a:p>
        </p:txBody>
      </p:sp>
      <p:sp>
        <p:nvSpPr>
          <p:cNvPr name="TextBox 18" id="18"/>
          <p:cNvSpPr txBox="true"/>
          <p:nvPr/>
        </p:nvSpPr>
        <p:spPr>
          <a:xfrm rot="0">
            <a:off x="10926783" y="2843150"/>
            <a:ext cx="3691110" cy="508890"/>
          </a:xfrm>
          <a:prstGeom prst="rect">
            <a:avLst/>
          </a:prstGeom>
        </p:spPr>
        <p:txBody>
          <a:bodyPr anchor="t" rtlCol="false" tIns="0" lIns="0" bIns="0" rIns="0">
            <a:spAutoFit/>
          </a:bodyPr>
          <a:lstStyle/>
          <a:p>
            <a:pPr algn="l">
              <a:lnSpc>
                <a:spcPts val="4227"/>
              </a:lnSpc>
            </a:pPr>
            <a:r>
              <a:rPr lang="en-US" sz="2600" b="true">
                <a:solidFill>
                  <a:srgbClr val="FFFFFF"/>
                </a:solidFill>
                <a:latin typeface="HK Grotesk Bold"/>
                <a:ea typeface="HK Grotesk Bold"/>
                <a:cs typeface="HK Grotesk Bold"/>
                <a:sym typeface="HK Grotesk Bold"/>
              </a:rPr>
              <a:t>What Was Built</a:t>
            </a:r>
          </a:p>
        </p:txBody>
      </p:sp>
      <p:sp>
        <p:nvSpPr>
          <p:cNvPr name="TextBox 19" id="19"/>
          <p:cNvSpPr txBox="true"/>
          <p:nvPr/>
        </p:nvSpPr>
        <p:spPr>
          <a:xfrm rot="0">
            <a:off x="10926783" y="6042381"/>
            <a:ext cx="3691110" cy="508890"/>
          </a:xfrm>
          <a:prstGeom prst="rect">
            <a:avLst/>
          </a:prstGeom>
        </p:spPr>
        <p:txBody>
          <a:bodyPr anchor="t" rtlCol="false" tIns="0" lIns="0" bIns="0" rIns="0">
            <a:spAutoFit/>
          </a:bodyPr>
          <a:lstStyle/>
          <a:p>
            <a:pPr algn="l">
              <a:lnSpc>
                <a:spcPts val="4227"/>
              </a:lnSpc>
            </a:pPr>
            <a:r>
              <a:rPr lang="en-US" sz="2600" b="true">
                <a:solidFill>
                  <a:srgbClr val="FFFFFF"/>
                </a:solidFill>
                <a:latin typeface="HK Grotesk Bold"/>
                <a:ea typeface="HK Grotesk Bold"/>
                <a:cs typeface="HK Grotesk Bold"/>
                <a:sym typeface="HK Grotesk Bold"/>
              </a:rPr>
              <a:t>What Comes Next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DAHRgRJrB04</dc:identifier>
  <dcterms:modified xsi:type="dcterms:W3CDTF">2011-08-01T06:04:30Z</dcterms:modified>
  <cp:revision>1</cp:revision>
  <dc:title>Blue and White Modern Startup Pitch Deck Presentation</dc:title>
</cp:coreProperties>
</file>